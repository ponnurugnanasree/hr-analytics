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6" r:id="rId4"/>
    <p:sldId id="258" r:id="rId5"/>
    <p:sldId id="259" r:id="rId6"/>
    <p:sldId id="260" r:id="rId7"/>
    <p:sldId id="261" r:id="rId8"/>
    <p:sldId id="262" r:id="rId9"/>
    <p:sldId id="263" r:id="rId10"/>
    <p:sldId id="267" r:id="rId11"/>
    <p:sldId id="268" r:id="rId12"/>
    <p:sldId id="269" r:id="rId13"/>
    <p:sldId id="265" r:id="rId14"/>
    <p:sldId id="26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2/14/2026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2/14/2026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2398" y="2385955"/>
            <a:ext cx="6815669" cy="989693"/>
          </a:xfr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path path="circle">
              <a:fillToRect l="50000" t="50000" r="50000" b="50000"/>
            </a:path>
            <a:tileRect/>
          </a:gradFill>
        </p:spPr>
        <p:style>
          <a:lnRef idx="3">
            <a:schemeClr val="lt1"/>
          </a:lnRef>
          <a:fillRef idx="1">
            <a:schemeClr val="accent6"/>
          </a:fillRef>
          <a:effectRef idx="1">
            <a:schemeClr val="accent6"/>
          </a:effectRef>
          <a:fontRef idx="minor">
            <a:schemeClr val="lt1"/>
          </a:fontRef>
        </p:style>
        <p:txBody>
          <a:bodyPr/>
          <a:lstStyle/>
          <a:p>
            <a:r>
              <a:rPr lang="en-US" dirty="0" smtClean="0"/>
              <a:t>HR Analytics </a:t>
            </a:r>
            <a:endParaRPr lang="en-US" dirty="0"/>
          </a:p>
        </p:txBody>
      </p:sp>
      <p:sp>
        <p:nvSpPr>
          <p:cNvPr id="3" name="Subtitle 2"/>
          <p:cNvSpPr>
            <a:spLocks noGrp="1"/>
          </p:cNvSpPr>
          <p:nvPr>
            <p:ph type="subTitle" idx="1"/>
          </p:nvPr>
        </p:nvSpPr>
        <p:spPr>
          <a:gradFill flip="none" rotWithShape="1">
            <a:gsLst>
              <a:gs pos="0">
                <a:schemeClr val="accent4">
                  <a:lumMod val="40000"/>
                  <a:lumOff val="60000"/>
                  <a:shade val="30000"/>
                  <a:satMod val="115000"/>
                </a:schemeClr>
              </a:gs>
              <a:gs pos="50000">
                <a:schemeClr val="accent4">
                  <a:lumMod val="40000"/>
                  <a:lumOff val="60000"/>
                  <a:shade val="67500"/>
                  <a:satMod val="115000"/>
                </a:schemeClr>
              </a:gs>
              <a:gs pos="100000">
                <a:schemeClr val="accent4">
                  <a:lumMod val="40000"/>
                  <a:lumOff val="60000"/>
                  <a:shade val="100000"/>
                  <a:satMod val="115000"/>
                </a:schemeClr>
              </a:gs>
            </a:gsLst>
            <a:lin ang="0" scaled="1"/>
            <a:tileRect/>
          </a:gradFill>
        </p:spPr>
        <p:style>
          <a:lnRef idx="1">
            <a:schemeClr val="accent6"/>
          </a:lnRef>
          <a:fillRef idx="2">
            <a:schemeClr val="accent6"/>
          </a:fillRef>
          <a:effectRef idx="1">
            <a:schemeClr val="accent6"/>
          </a:effectRef>
          <a:fontRef idx="minor">
            <a:schemeClr val="dk1"/>
          </a:fontRef>
        </p:style>
        <p:txBody>
          <a:bodyPr>
            <a:normAutofit/>
          </a:bodyPr>
          <a:lstStyle/>
          <a:p>
            <a:r>
              <a:rPr lang="en-US" sz="4800" dirty="0" smtClean="0"/>
              <a:t>Group 6</a:t>
            </a:r>
            <a:endParaRPr lang="en-US" sz="4800" dirty="0"/>
          </a:p>
        </p:txBody>
      </p:sp>
      <p:pic>
        <p:nvPicPr>
          <p:cNvPr id="5" name="Picture 4"/>
          <p:cNvPicPr>
            <a:picLocks noChangeAspect="1"/>
          </p:cNvPicPr>
          <p:nvPr/>
        </p:nvPicPr>
        <p:blipFill>
          <a:blip r:embed="rId2"/>
          <a:stretch>
            <a:fillRect/>
          </a:stretch>
        </p:blipFill>
        <p:spPr>
          <a:xfrm>
            <a:off x="0" y="0"/>
            <a:ext cx="12192000" cy="2421878"/>
          </a:xfrm>
          <a:prstGeom prst="rect">
            <a:avLst/>
          </a:prstGeom>
        </p:spPr>
      </p:pic>
    </p:spTree>
    <p:extLst>
      <p:ext uri="{BB962C8B-B14F-4D97-AF65-F5344CB8AC3E}">
        <p14:creationId xmlns:p14="http://schemas.microsoft.com/office/powerpoint/2010/main" val="229988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3">
                                            <p:bg/>
                                          </p:spTgt>
                                        </p:tgtEl>
                                        <p:attrNameLst>
                                          <p:attrName>style.visibility</p:attrName>
                                        </p:attrNameLst>
                                      </p:cBhvr>
                                      <p:to>
                                        <p:strVal val="visible"/>
                                      </p:to>
                                    </p:set>
                                    <p:animEffect transition="in" filter="circle(in)">
                                      <p:cBhvr>
                                        <p:cTn id="21" dur="2000"/>
                                        <p:tgtEl>
                                          <p:spTgt spid="3">
                                            <p:bg/>
                                          </p:spTgt>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grpId="0" nodeType="clickEffect">
                                  <p:stCondLst>
                                    <p:cond delay="0"/>
                                  </p:stCondLst>
                                  <p:childTnLst>
                                    <p:set>
                                      <p:cBhvr>
                                        <p:cTn id="25" dur="1" fill="hold">
                                          <p:stCondLst>
                                            <p:cond delay="0"/>
                                          </p:stCondLst>
                                        </p:cTn>
                                        <p:tgtEl>
                                          <p:spTgt spid="3">
                                            <p:txEl>
                                              <p:pRg st="0" end="0"/>
                                            </p:txEl>
                                          </p:spTgt>
                                        </p:tgtEl>
                                        <p:attrNameLst>
                                          <p:attrName>style.visibility</p:attrName>
                                        </p:attrNameLst>
                                      </p:cBhvr>
                                      <p:to>
                                        <p:strVal val="visible"/>
                                      </p:to>
                                    </p:set>
                                    <p:animEffect transition="in" filter="circle(in)">
                                      <p:cBhvr>
                                        <p:cTn id="26"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3"/>
            <a:ext cx="9954682" cy="694268"/>
          </a:xfrm>
        </p:spPr>
        <p:style>
          <a:lnRef idx="3">
            <a:schemeClr val="lt1"/>
          </a:lnRef>
          <a:fillRef idx="1">
            <a:schemeClr val="accent1"/>
          </a:fillRef>
          <a:effectRef idx="1">
            <a:schemeClr val="accent1"/>
          </a:effectRef>
          <a:fontRef idx="minor">
            <a:schemeClr val="lt1"/>
          </a:fontRef>
        </p:style>
        <p:txBody>
          <a:bodyPr/>
          <a:lstStyle/>
          <a:p>
            <a:r>
              <a:rPr lang="en-US" dirty="0" smtClean="0">
                <a:ln w="0"/>
                <a:solidFill>
                  <a:schemeClr val="bg1"/>
                </a:solidFill>
                <a:effectLst>
                  <a:outerShdw blurRad="38100" dist="19050" dir="2700000" algn="tl" rotWithShape="0">
                    <a:schemeClr val="dk1">
                      <a:alpha val="40000"/>
                    </a:schemeClr>
                  </a:outerShdw>
                </a:effectLst>
              </a:rPr>
              <a:t>Team Member </a:t>
            </a:r>
            <a:endParaRPr lang="en-US" dirty="0">
              <a:ln w="0"/>
              <a:solidFill>
                <a:schemeClr val="bg1"/>
              </a:solidFill>
              <a:effectLst>
                <a:outerShdw blurRad="38100" dist="19050" dir="2700000" algn="tl" rotWithShape="0">
                  <a:schemeClr val="dk1">
                    <a:alpha val="40000"/>
                  </a:schemeClr>
                </a:outerShdw>
              </a:effectLst>
            </a:endParaRPr>
          </a:p>
        </p:txBody>
      </p:sp>
      <p:sp>
        <p:nvSpPr>
          <p:cNvPr id="3" name="Text Placeholder 2"/>
          <p:cNvSpPr>
            <a:spLocks noGrp="1"/>
          </p:cNvSpPr>
          <p:nvPr>
            <p:ph type="body" idx="1"/>
          </p:nvPr>
        </p:nvSpPr>
        <p:spPr>
          <a:xfrm>
            <a:off x="1303868" y="1771650"/>
            <a:ext cx="9954682" cy="4104216"/>
          </a:xfrm>
          <a:solidFill>
            <a:schemeClr val="accent4">
              <a:tint val="60000"/>
              <a:lumMod val="110000"/>
            </a:schemeClr>
          </a:solidFill>
        </p:spPr>
        <p:style>
          <a:lnRef idx="1">
            <a:schemeClr val="accent4"/>
          </a:lnRef>
          <a:fillRef idx="2">
            <a:schemeClr val="accent4"/>
          </a:fillRef>
          <a:effectRef idx="1">
            <a:schemeClr val="accent4"/>
          </a:effectRef>
          <a:fontRef idx="minor">
            <a:schemeClr val="dk1"/>
          </a:fontRef>
        </p:style>
        <p:txBody>
          <a:bodyPr anchor="t">
            <a:normAutofit/>
          </a:bodyPr>
          <a:lstStyle/>
          <a:p>
            <a:pPr marL="457200" indent="-457200" algn="l">
              <a:buFont typeface="+mj-lt"/>
              <a:buAutoNum type="arabicPeriod"/>
            </a:pPr>
            <a:r>
              <a:rPr lang="en-US" sz="2800" dirty="0">
                <a:ln w="0"/>
                <a:effectLst>
                  <a:outerShdw blurRad="38100" dist="19050" dir="2700000" algn="tl" rotWithShape="0">
                    <a:schemeClr val="dk1">
                      <a:alpha val="40000"/>
                    </a:schemeClr>
                  </a:outerShdw>
                </a:effectLst>
              </a:rPr>
              <a:t>Rahul </a:t>
            </a:r>
            <a:r>
              <a:rPr lang="en-US" sz="2800" dirty="0" err="1">
                <a:ln w="0"/>
                <a:effectLst>
                  <a:outerShdw blurRad="38100" dist="19050" dir="2700000" algn="tl" rotWithShape="0">
                    <a:schemeClr val="dk1">
                      <a:alpha val="40000"/>
                    </a:schemeClr>
                  </a:outerShdw>
                </a:effectLst>
              </a:rPr>
              <a:t>Dnyaneshwar</a:t>
            </a:r>
            <a:r>
              <a:rPr lang="en-US" sz="2800" dirty="0">
                <a:ln w="0"/>
                <a:effectLst>
                  <a:outerShdw blurRad="38100" dist="19050" dir="2700000" algn="tl" rotWithShape="0">
                    <a:schemeClr val="dk1">
                      <a:alpha val="40000"/>
                    </a:schemeClr>
                  </a:outerShdw>
                </a:effectLst>
              </a:rPr>
              <a:t> </a:t>
            </a:r>
            <a:r>
              <a:rPr lang="en-US" sz="2800" dirty="0" smtClean="0">
                <a:ln w="0"/>
                <a:effectLst>
                  <a:outerShdw blurRad="38100" dist="19050" dir="2700000" algn="tl" rotWithShape="0">
                    <a:schemeClr val="dk1">
                      <a:alpha val="40000"/>
                    </a:schemeClr>
                  </a:outerShdw>
                </a:effectLst>
              </a:rPr>
              <a:t>Tarale</a:t>
            </a:r>
          </a:p>
          <a:p>
            <a:pPr marL="457200" indent="-457200" algn="l">
              <a:buFont typeface="+mj-lt"/>
              <a:buAutoNum type="arabicPeriod"/>
            </a:pPr>
            <a:r>
              <a:rPr lang="en-US" sz="2800" dirty="0" err="1">
                <a:ln w="0"/>
                <a:effectLst>
                  <a:outerShdw blurRad="38100" dist="19050" dir="2700000" algn="tl" rotWithShape="0">
                    <a:schemeClr val="dk1">
                      <a:alpha val="40000"/>
                    </a:schemeClr>
                  </a:outerShdw>
                </a:effectLst>
              </a:rPr>
              <a:t>Ponnuru</a:t>
            </a:r>
            <a:r>
              <a:rPr lang="en-US" sz="2800" dirty="0">
                <a:ln w="0"/>
                <a:effectLst>
                  <a:outerShdw blurRad="38100" dist="19050" dir="2700000" algn="tl" rotWithShape="0">
                    <a:schemeClr val="dk1">
                      <a:alpha val="40000"/>
                    </a:schemeClr>
                  </a:outerShdw>
                </a:effectLst>
              </a:rPr>
              <a:t> </a:t>
            </a:r>
            <a:r>
              <a:rPr lang="en-US" sz="2800" dirty="0" err="1">
                <a:ln w="0"/>
                <a:effectLst>
                  <a:outerShdw blurRad="38100" dist="19050" dir="2700000" algn="tl" rotWithShape="0">
                    <a:schemeClr val="dk1">
                      <a:alpha val="40000"/>
                    </a:schemeClr>
                  </a:outerShdw>
                </a:effectLst>
              </a:rPr>
              <a:t>Gnana</a:t>
            </a:r>
            <a:r>
              <a:rPr lang="en-US" sz="2800" dirty="0">
                <a:ln w="0"/>
                <a:effectLst>
                  <a:outerShdw blurRad="38100" dist="19050" dir="2700000" algn="tl" rotWithShape="0">
                    <a:schemeClr val="dk1">
                      <a:alpha val="40000"/>
                    </a:schemeClr>
                  </a:outerShdw>
                </a:effectLst>
              </a:rPr>
              <a:t> </a:t>
            </a:r>
            <a:r>
              <a:rPr lang="en-US" sz="2800" dirty="0" err="1" smtClean="0">
                <a:ln w="0"/>
                <a:effectLst>
                  <a:outerShdw blurRad="38100" dist="19050" dir="2700000" algn="tl" rotWithShape="0">
                    <a:schemeClr val="dk1">
                      <a:alpha val="40000"/>
                    </a:schemeClr>
                  </a:outerShdw>
                </a:effectLst>
              </a:rPr>
              <a:t>Sree</a:t>
            </a:r>
            <a:endParaRPr lang="en-US" sz="2800" dirty="0" smtClean="0">
              <a:ln w="0"/>
              <a:effectLst>
                <a:outerShdw blurRad="38100" dist="19050" dir="2700000" algn="tl" rotWithShape="0">
                  <a:schemeClr val="dk1">
                    <a:alpha val="40000"/>
                  </a:schemeClr>
                </a:outerShdw>
              </a:effectLst>
            </a:endParaRPr>
          </a:p>
          <a:p>
            <a:pPr marL="457200" indent="-457200" algn="l">
              <a:buFont typeface="+mj-lt"/>
              <a:buAutoNum type="arabicPeriod"/>
            </a:pPr>
            <a:r>
              <a:rPr lang="en-US" sz="2800" dirty="0" err="1">
                <a:ln w="0"/>
                <a:effectLst>
                  <a:outerShdw blurRad="38100" dist="19050" dir="2700000" algn="tl" rotWithShape="0">
                    <a:schemeClr val="dk1">
                      <a:alpha val="40000"/>
                    </a:schemeClr>
                  </a:outerShdw>
                </a:effectLst>
              </a:rPr>
              <a:t>Vinit</a:t>
            </a:r>
            <a:r>
              <a:rPr lang="en-US" sz="2800" dirty="0">
                <a:ln w="0"/>
                <a:effectLst>
                  <a:outerShdw blurRad="38100" dist="19050" dir="2700000" algn="tl" rotWithShape="0">
                    <a:schemeClr val="dk1">
                      <a:alpha val="40000"/>
                    </a:schemeClr>
                  </a:outerShdw>
                </a:effectLst>
              </a:rPr>
              <a:t> </a:t>
            </a:r>
            <a:r>
              <a:rPr lang="en-US" sz="2800" dirty="0" smtClean="0">
                <a:ln w="0"/>
                <a:effectLst>
                  <a:outerShdw blurRad="38100" dist="19050" dir="2700000" algn="tl" rotWithShape="0">
                    <a:schemeClr val="dk1">
                      <a:alpha val="40000"/>
                    </a:schemeClr>
                  </a:outerShdw>
                </a:effectLst>
              </a:rPr>
              <a:t>Shah</a:t>
            </a:r>
          </a:p>
          <a:p>
            <a:pPr marL="457200" indent="-457200" algn="l">
              <a:buFont typeface="+mj-lt"/>
              <a:buAutoNum type="arabicPeriod"/>
            </a:pPr>
            <a:r>
              <a:rPr lang="en-US" sz="2800" dirty="0" err="1" smtClean="0">
                <a:ln w="0"/>
                <a:effectLst>
                  <a:outerShdw blurRad="38100" dist="19050" dir="2700000" algn="tl" rotWithShape="0">
                    <a:schemeClr val="dk1">
                      <a:alpha val="40000"/>
                    </a:schemeClr>
                  </a:outerShdw>
                </a:effectLst>
                <a:latin typeface="Calibri" panose="020F0502020204030204" pitchFamily="34" charset="0"/>
              </a:rPr>
              <a:t>Sama</a:t>
            </a:r>
            <a:r>
              <a:rPr lang="en-US" sz="2800" dirty="0" smtClean="0">
                <a:ln w="0"/>
                <a:effectLst>
                  <a:outerShdw blurRad="38100" dist="19050" dir="2700000" algn="tl" rotWithShape="0">
                    <a:schemeClr val="dk1">
                      <a:alpha val="40000"/>
                    </a:schemeClr>
                  </a:outerShdw>
                </a:effectLst>
                <a:latin typeface="Calibri" panose="020F0502020204030204" pitchFamily="34" charset="0"/>
              </a:rPr>
              <a:t> </a:t>
            </a:r>
            <a:r>
              <a:rPr lang="en-US" sz="2800" dirty="0" err="1" smtClean="0">
                <a:ln w="0"/>
                <a:effectLst>
                  <a:outerShdw blurRad="38100" dist="19050" dir="2700000" algn="tl" rotWithShape="0">
                    <a:schemeClr val="dk1">
                      <a:alpha val="40000"/>
                    </a:schemeClr>
                  </a:outerShdw>
                </a:effectLst>
                <a:latin typeface="Calibri" panose="020F0502020204030204" pitchFamily="34" charset="0"/>
              </a:rPr>
              <a:t>Deepika</a:t>
            </a:r>
            <a:r>
              <a:rPr lang="en-US" sz="2800" dirty="0" smtClean="0">
                <a:ln w="0"/>
                <a:effectLst>
                  <a:outerShdw blurRad="38100" dist="19050" dir="2700000" algn="tl" rotWithShape="0">
                    <a:schemeClr val="dk1">
                      <a:alpha val="40000"/>
                    </a:schemeClr>
                  </a:outerShdw>
                </a:effectLst>
                <a:latin typeface="Calibri" panose="020F0502020204030204" pitchFamily="34" charset="0"/>
              </a:rPr>
              <a:t> </a:t>
            </a:r>
          </a:p>
          <a:p>
            <a:pPr marL="457200" indent="-457200" algn="l">
              <a:buFont typeface="+mj-lt"/>
              <a:buAutoNum type="arabicPeriod"/>
            </a:pPr>
            <a:r>
              <a:rPr lang="en-US" sz="2800" dirty="0" err="1" smtClean="0">
                <a:ln w="0"/>
                <a:effectLst>
                  <a:outerShdw blurRad="38100" dist="19050" dir="2700000" algn="tl" rotWithShape="0">
                    <a:schemeClr val="dk1">
                      <a:alpha val="40000"/>
                    </a:schemeClr>
                  </a:outerShdw>
                </a:effectLst>
              </a:rPr>
              <a:t>Ananya</a:t>
            </a:r>
            <a:r>
              <a:rPr lang="en-US" sz="2800" dirty="0" smtClean="0">
                <a:ln w="0"/>
                <a:effectLst>
                  <a:outerShdw blurRad="38100" dist="19050" dir="2700000" algn="tl" rotWithShape="0">
                    <a:schemeClr val="dk1">
                      <a:alpha val="40000"/>
                    </a:schemeClr>
                  </a:outerShdw>
                </a:effectLst>
              </a:rPr>
              <a:t> </a:t>
            </a:r>
            <a:r>
              <a:rPr lang="en-US" sz="2800" dirty="0" err="1" smtClean="0">
                <a:ln w="0"/>
                <a:effectLst>
                  <a:outerShdw blurRad="38100" dist="19050" dir="2700000" algn="tl" rotWithShape="0">
                    <a:schemeClr val="dk1">
                      <a:alpha val="40000"/>
                    </a:schemeClr>
                  </a:outerShdw>
                </a:effectLst>
              </a:rPr>
              <a:t>Soni</a:t>
            </a:r>
            <a:endParaRPr lang="en-US" sz="2800" dirty="0" smtClean="0">
              <a:ln w="0"/>
              <a:effectLst>
                <a:outerShdw blurRad="38100" dist="19050" dir="2700000" algn="tl" rotWithShape="0">
                  <a:schemeClr val="dk1">
                    <a:alpha val="40000"/>
                  </a:schemeClr>
                </a:outerShdw>
              </a:effectLst>
            </a:endParaRPr>
          </a:p>
          <a:p>
            <a:pPr marL="457200" indent="-457200" algn="l">
              <a:buFont typeface="+mj-lt"/>
              <a:buAutoNum type="arabicPeriod"/>
            </a:pPr>
            <a:r>
              <a:rPr lang="en-US" sz="2800" dirty="0" err="1">
                <a:ln w="0"/>
                <a:effectLst>
                  <a:outerShdw blurRad="38100" dist="19050" dir="2700000" algn="tl" rotWithShape="0">
                    <a:schemeClr val="dk1">
                      <a:alpha val="40000"/>
                    </a:schemeClr>
                  </a:outerShdw>
                </a:effectLst>
              </a:rPr>
              <a:t>Omkar</a:t>
            </a:r>
            <a:r>
              <a:rPr lang="en-US" sz="2800" dirty="0">
                <a:ln w="0"/>
                <a:effectLst>
                  <a:outerShdw blurRad="38100" dist="19050" dir="2700000" algn="tl" rotWithShape="0">
                    <a:schemeClr val="dk1">
                      <a:alpha val="40000"/>
                    </a:schemeClr>
                  </a:outerShdw>
                </a:effectLst>
              </a:rPr>
              <a:t> </a:t>
            </a:r>
            <a:r>
              <a:rPr lang="en-US" sz="2800" dirty="0" err="1" smtClean="0">
                <a:ln w="0"/>
                <a:effectLst>
                  <a:outerShdw blurRad="38100" dist="19050" dir="2700000" algn="tl" rotWithShape="0">
                    <a:schemeClr val="dk1">
                      <a:alpha val="40000"/>
                    </a:schemeClr>
                  </a:outerShdw>
                </a:effectLst>
              </a:rPr>
              <a:t>Kumbhar</a:t>
            </a:r>
            <a:endParaRPr lang="en-US" sz="2800" dirty="0" smtClean="0">
              <a:ln w="0"/>
              <a:effectLst>
                <a:outerShdw blurRad="38100" dist="19050" dir="2700000" algn="tl" rotWithShape="0">
                  <a:schemeClr val="dk1">
                    <a:alpha val="40000"/>
                  </a:schemeClr>
                </a:outerShdw>
              </a:effectLst>
            </a:endParaRPr>
          </a:p>
          <a:p>
            <a:pPr marL="457200" indent="-457200" algn="l">
              <a:buFont typeface="+mj-lt"/>
              <a:buAutoNum type="arabicPeriod"/>
            </a:pPr>
            <a:r>
              <a:rPr lang="en-US" sz="2800" dirty="0" err="1">
                <a:ln w="0"/>
                <a:effectLst>
                  <a:outerShdw blurRad="38100" dist="19050" dir="2700000" algn="tl" rotWithShape="0">
                    <a:schemeClr val="dk1">
                      <a:alpha val="40000"/>
                    </a:schemeClr>
                  </a:outerShdw>
                </a:effectLst>
              </a:rPr>
              <a:t>Anjana.M</a:t>
            </a:r>
            <a:endParaRPr lang="en-US" sz="28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35307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3">
                                            <p:bg/>
                                          </p:spTgt>
                                        </p:tgtEl>
                                        <p:attrNameLst>
                                          <p:attrName>style.visibility</p:attrName>
                                        </p:attrNameLst>
                                      </p:cBhvr>
                                      <p:to>
                                        <p:strVal val="visible"/>
                                      </p:to>
                                    </p:set>
                                    <p:animEffect transition="in" filter="wheel(1)">
                                      <p:cBhvr>
                                        <p:cTn id="25" dur="2000"/>
                                        <p:tgtEl>
                                          <p:spTgt spid="3">
                                            <p:bg/>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3">
                                            <p:txEl>
                                              <p:pRg st="0" end="0"/>
                                            </p:txEl>
                                          </p:spTgt>
                                        </p:tgtEl>
                                        <p:attrNameLst>
                                          <p:attrName>style.visibility</p:attrName>
                                        </p:attrNameLst>
                                      </p:cBhvr>
                                      <p:to>
                                        <p:strVal val="visible"/>
                                      </p:to>
                                    </p:set>
                                    <p:animEffect transition="in" filter="randombar(horizontal)">
                                      <p:cBhvr>
                                        <p:cTn id="30" dur="500"/>
                                        <p:tgtEl>
                                          <p:spTgt spid="3">
                                            <p:txEl>
                                              <p:pRg st="0" end="0"/>
                                            </p:txEl>
                                          </p:spTgt>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animEffect transition="in" filter="randombar(horizontal)">
                                      <p:cBhvr>
                                        <p:cTn id="33" dur="500"/>
                                        <p:tgtEl>
                                          <p:spTgt spid="3">
                                            <p:txEl>
                                              <p:pRg st="1" end="1"/>
                                            </p:txEl>
                                          </p:spTgt>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3">
                                            <p:txEl>
                                              <p:pRg st="2" end="2"/>
                                            </p:txEl>
                                          </p:spTgt>
                                        </p:tgtEl>
                                        <p:attrNameLst>
                                          <p:attrName>style.visibility</p:attrName>
                                        </p:attrNameLst>
                                      </p:cBhvr>
                                      <p:to>
                                        <p:strVal val="visible"/>
                                      </p:to>
                                    </p:set>
                                    <p:animEffect transition="in" filter="randombar(horizontal)">
                                      <p:cBhvr>
                                        <p:cTn id="36" dur="500"/>
                                        <p:tgtEl>
                                          <p:spTgt spid="3">
                                            <p:txEl>
                                              <p:pRg st="2" end="2"/>
                                            </p:txEl>
                                          </p:spTgt>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Effect transition="in" filter="randombar(horizontal)">
                                      <p:cBhvr>
                                        <p:cTn id="39" dur="500"/>
                                        <p:tgtEl>
                                          <p:spTgt spid="3">
                                            <p:txEl>
                                              <p:pRg st="3" end="3"/>
                                            </p:txEl>
                                          </p:spTgt>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42" dur="500"/>
                                        <p:tgtEl>
                                          <p:spTgt spid="3">
                                            <p:txEl>
                                              <p:pRg st="4" end="4"/>
                                            </p:txEl>
                                          </p:spTgt>
                                        </p:tgtEl>
                                      </p:cBhvr>
                                    </p:animEffect>
                                  </p:childTnLst>
                                </p:cTn>
                              </p:par>
                              <p:par>
                                <p:cTn id="43" presetID="14" presetClass="entr" presetSubtype="10" fill="hold" grpId="0" nodeType="with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animEffect transition="in" filter="randombar(horizontal)">
                                      <p:cBhvr>
                                        <p:cTn id="45" dur="500"/>
                                        <p:tgtEl>
                                          <p:spTgt spid="3">
                                            <p:txEl>
                                              <p:pRg st="5" end="5"/>
                                            </p:txEl>
                                          </p:spTgt>
                                        </p:tgtEl>
                                      </p:cBhvr>
                                    </p:animEffect>
                                  </p:childTnLst>
                                </p:cTn>
                              </p:par>
                              <p:par>
                                <p:cTn id="46" presetID="14" presetClass="entr" presetSubtype="10" fill="hold" grpId="0" nodeType="with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Effect transition="in" filter="randombar(horizontal)">
                                      <p:cBhvr>
                                        <p:cTn id="4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3">
                  <a:tint val="60000"/>
                  <a:lumMod val="110000"/>
                </a:schemeClr>
              </a:gs>
              <a:gs pos="100000">
                <a:schemeClr val="accent3">
                  <a:tint val="82000"/>
                </a:schemeClr>
              </a:gs>
            </a:gsLst>
            <a:lin ang="2700000" scaled="1"/>
            <a:tileRect/>
          </a:gradFill>
          <a:scene3d>
            <a:camera prst="obliqueTopLeft"/>
            <a:lightRig rig="threePt" dir="t"/>
          </a:scene3d>
        </p:spPr>
        <p:style>
          <a:lnRef idx="1">
            <a:schemeClr val="accent3"/>
          </a:lnRef>
          <a:fillRef idx="2">
            <a:schemeClr val="accent3"/>
          </a:fillRef>
          <a:effectRef idx="1">
            <a:schemeClr val="accent3"/>
          </a:effectRef>
          <a:fontRef idx="minor">
            <a:schemeClr val="dk1"/>
          </a:fontRef>
        </p:style>
        <p:txBody>
          <a:bodyPr/>
          <a:lstStyle/>
          <a:p>
            <a:r>
              <a:rPr lang="en-US" b="1" u="sng" dirty="0" smtClean="0"/>
              <a:t>Introduction</a:t>
            </a:r>
            <a:endParaRPr lang="en-US" b="1" u="sng" dirty="0"/>
          </a:p>
        </p:txBody>
      </p:sp>
      <p:sp>
        <p:nvSpPr>
          <p:cNvPr id="5" name="Content Placeholder 4"/>
          <p:cNvSpPr>
            <a:spLocks noGrp="1"/>
          </p:cNvSpPr>
          <p:nvPr>
            <p:ph idx="1"/>
          </p:nvPr>
        </p:nvSpPr>
        <p:spPr/>
        <p:style>
          <a:lnRef idx="1">
            <a:schemeClr val="accent3"/>
          </a:lnRef>
          <a:fillRef idx="2">
            <a:schemeClr val="accent3"/>
          </a:fillRef>
          <a:effectRef idx="1">
            <a:schemeClr val="accent3"/>
          </a:effectRef>
          <a:fontRef idx="minor">
            <a:schemeClr val="dk1"/>
          </a:fontRef>
        </p:style>
        <p:txBody>
          <a:bodyPr/>
          <a:lstStyle/>
          <a:p>
            <a:pPr marL="0" indent="0">
              <a:buNone/>
            </a:pPr>
            <a:r>
              <a:rPr lang="en-US" dirty="0">
                <a:ln w="0"/>
                <a:solidFill>
                  <a:schemeClr val="accent4">
                    <a:lumMod val="50000"/>
                  </a:schemeClr>
                </a:solidFill>
                <a:effectLst>
                  <a:outerShdw blurRad="38100" dist="19050" dir="2700000" algn="tl" rotWithShape="0">
                    <a:schemeClr val="dk1">
                      <a:alpha val="40000"/>
                    </a:schemeClr>
                  </a:outerShdw>
                </a:effectLst>
              </a:rPr>
              <a:t>In today's rapidly evolving business world, talent management has become a critical strategic imperative. As we kick off our Employee Retention Analysis project, it's essential to acknowledge the significant shifts in how organizations approach attracting, retaining, and nurturing their workforce. The traditional model of employment, characterized by long-term loyalty to a single company, has given way to a more dynamic and competitive landscape</a:t>
            </a:r>
          </a:p>
        </p:txBody>
      </p:sp>
    </p:spTree>
    <p:extLst>
      <p:ext uri="{BB962C8B-B14F-4D97-AF65-F5344CB8AC3E}">
        <p14:creationId xmlns:p14="http://schemas.microsoft.com/office/powerpoint/2010/main" val="1587740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bg/>
                                          </p:spTgt>
                                        </p:tgtEl>
                                        <p:attrNameLst>
                                          <p:attrName>style.visibility</p:attrName>
                                        </p:attrNameLst>
                                      </p:cBhvr>
                                      <p:to>
                                        <p:strVal val="visible"/>
                                      </p:to>
                                    </p:set>
                                    <p:animEffect transition="in" filter="wheel(1)">
                                      <p:cBhvr>
                                        <p:cTn id="12" dur="2000"/>
                                        <p:tgtEl>
                                          <p:spTgt spid="5">
                                            <p:bg/>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heel(1)">
                                      <p:cBhvr>
                                        <p:cTn id="17"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7247" y="659936"/>
            <a:ext cx="10373227" cy="861485"/>
          </a:xfrm>
        </p:spPr>
        <p:style>
          <a:lnRef idx="1">
            <a:schemeClr val="accent3"/>
          </a:lnRef>
          <a:fillRef idx="2">
            <a:schemeClr val="accent3"/>
          </a:fillRef>
          <a:effectRef idx="1">
            <a:schemeClr val="accent3"/>
          </a:effectRef>
          <a:fontRef idx="minor">
            <a:schemeClr val="dk1"/>
          </a:fontRef>
        </p:style>
        <p:txBody>
          <a:bodyPr>
            <a:normAutofit/>
          </a:bodyPr>
          <a:lstStyle/>
          <a:p>
            <a:r>
              <a:rPr lang="en-US" sz="4400" dirty="0" smtClean="0"/>
              <a:t>Average Attrition Rate of All Department</a:t>
            </a:r>
            <a:endParaRPr lang="en-US" sz="4400" dirty="0"/>
          </a:p>
        </p:txBody>
      </p:sp>
      <p:sp>
        <p:nvSpPr>
          <p:cNvPr id="4" name="Text Placeholder 3"/>
          <p:cNvSpPr>
            <a:spLocks noGrp="1"/>
          </p:cNvSpPr>
          <p:nvPr>
            <p:ph type="body" sz="half" idx="2"/>
          </p:nvPr>
        </p:nvSpPr>
        <p:spPr>
          <a:xfrm>
            <a:off x="8429625" y="1600085"/>
            <a:ext cx="2990850" cy="4438765"/>
          </a:xfrm>
        </p:spPr>
        <p:style>
          <a:lnRef idx="1">
            <a:schemeClr val="accent5"/>
          </a:lnRef>
          <a:fillRef idx="2">
            <a:schemeClr val="accent5"/>
          </a:fillRef>
          <a:effectRef idx="1">
            <a:schemeClr val="accent5"/>
          </a:effectRef>
          <a:fontRef idx="minor">
            <a:schemeClr val="dk1"/>
          </a:fontRef>
        </p:style>
        <p:txBody>
          <a:bodyPr>
            <a:normAutofit/>
          </a:bodyPr>
          <a:lstStyle/>
          <a:p>
            <a:pPr marL="171450" indent="-171450" algn="l">
              <a:buFont typeface="Wingdings" panose="05000000000000000000" pitchFamily="2" charset="2"/>
              <a:buChar char="ü"/>
            </a:pPr>
            <a:r>
              <a:rPr lang="en-US" sz="1200" dirty="0"/>
              <a:t>The average attrition rate is about </a:t>
            </a:r>
            <a:r>
              <a:rPr lang="en-US" sz="1200" b="1" dirty="0"/>
              <a:t>50%</a:t>
            </a:r>
            <a:r>
              <a:rPr lang="en-US" sz="1200" dirty="0"/>
              <a:t>, meaning nearly half of employees leave or change roles each year</a:t>
            </a:r>
            <a:r>
              <a:rPr lang="en-US" sz="1200" dirty="0" smtClean="0"/>
              <a:t>.</a:t>
            </a:r>
          </a:p>
          <a:p>
            <a:pPr marL="171450" indent="-171450" algn="l">
              <a:buFont typeface="Wingdings" panose="05000000000000000000" pitchFamily="2" charset="2"/>
              <a:buChar char="ü"/>
            </a:pPr>
            <a:r>
              <a:rPr lang="en-US" sz="1200" dirty="0"/>
              <a:t>Attrition varies slightly across departments, showing different levels of stability</a:t>
            </a:r>
            <a:r>
              <a:rPr lang="en-US" sz="1200" dirty="0" smtClean="0"/>
              <a:t>.</a:t>
            </a:r>
          </a:p>
          <a:p>
            <a:pPr marL="171450" indent="-171450" algn="l">
              <a:buFont typeface="Wingdings" panose="05000000000000000000" pitchFamily="2" charset="2"/>
              <a:buChar char="ü"/>
            </a:pPr>
            <a:r>
              <a:rPr lang="en-US" sz="1200" dirty="0"/>
              <a:t>The </a:t>
            </a:r>
            <a:r>
              <a:rPr lang="en-US" sz="1200" b="1" dirty="0"/>
              <a:t>Hardware</a:t>
            </a:r>
            <a:r>
              <a:rPr lang="en-US" sz="1200" dirty="0"/>
              <a:t> department has a lower attrition rate (~49%), indicating better retention</a:t>
            </a:r>
            <a:r>
              <a:rPr lang="en-US" sz="1200" dirty="0" smtClean="0"/>
              <a:t>.</a:t>
            </a:r>
          </a:p>
          <a:p>
            <a:pPr marL="171450" indent="-171450" algn="l">
              <a:buFont typeface="Wingdings" panose="05000000000000000000" pitchFamily="2" charset="2"/>
              <a:buChar char="ü"/>
            </a:pPr>
            <a:r>
              <a:rPr lang="en-US" sz="1200" b="1" dirty="0"/>
              <a:t>Research &amp; Development</a:t>
            </a:r>
            <a:r>
              <a:rPr lang="en-US" sz="1200" dirty="0"/>
              <a:t> and </a:t>
            </a:r>
            <a:r>
              <a:rPr lang="en-US" sz="1200" b="1" dirty="0"/>
              <a:t>Software</a:t>
            </a:r>
            <a:r>
              <a:rPr lang="en-US" sz="1200" dirty="0"/>
              <a:t> departments have slightly higher attrition (~51%), suggesting possible retention concerns.</a:t>
            </a:r>
            <a:endParaRPr lang="en-US" sz="1200" dirty="0"/>
          </a:p>
        </p:txBody>
      </p:sp>
      <p:pic>
        <p:nvPicPr>
          <p:cNvPr id="9" name="Picture Placeholder 8"/>
          <p:cNvPicPr>
            <a:picLocks noGrp="1" noChangeAspect="1"/>
          </p:cNvPicPr>
          <p:nvPr>
            <p:ph type="pic" idx="1"/>
          </p:nvPr>
        </p:nvPicPr>
        <p:blipFill rotWithShape="1">
          <a:blip r:embed="rId2"/>
          <a:srcRect t="11591" b="2232"/>
          <a:stretch/>
        </p:blipFill>
        <p:spPr>
          <a:xfrm>
            <a:off x="1047248" y="1521421"/>
            <a:ext cx="7382378" cy="4517429"/>
          </a:xfrm>
          <a:prstGeom prst="rect">
            <a:avLst/>
          </a:prstGeom>
        </p:spPr>
      </p:pic>
    </p:spTree>
    <p:extLst>
      <p:ext uri="{BB962C8B-B14F-4D97-AF65-F5344CB8AC3E}">
        <p14:creationId xmlns:p14="http://schemas.microsoft.com/office/powerpoint/2010/main" val="1452378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4">
                                            <p:bg/>
                                          </p:spTgt>
                                        </p:tgtEl>
                                        <p:attrNameLst>
                                          <p:attrName>style.visibility</p:attrName>
                                        </p:attrNameLst>
                                      </p:cBhvr>
                                      <p:to>
                                        <p:strVal val="visible"/>
                                      </p:to>
                                    </p:set>
                                    <p:animEffect transition="in" filter="randombar(horizontal)">
                                      <p:cBhvr>
                                        <p:cTn id="18" dur="500"/>
                                        <p:tgtEl>
                                          <p:spTgt spid="4">
                                            <p:bg/>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animEffect transition="in" filter="randombar(horizontal)">
                                      <p:cBhvr>
                                        <p:cTn id="23" dur="500"/>
                                        <p:tgtEl>
                                          <p:spTgt spid="4">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4">
                                            <p:txEl>
                                              <p:pRg st="1" end="1"/>
                                            </p:txEl>
                                          </p:spTgt>
                                        </p:tgtEl>
                                        <p:attrNameLst>
                                          <p:attrName>style.visibility</p:attrName>
                                        </p:attrNameLst>
                                      </p:cBhvr>
                                      <p:to>
                                        <p:strVal val="visible"/>
                                      </p:to>
                                    </p:set>
                                    <p:animEffect transition="in" filter="randombar(horizontal)">
                                      <p:cBhvr>
                                        <p:cTn id="28" dur="500"/>
                                        <p:tgtEl>
                                          <p:spTgt spid="4">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animEffect transition="in" filter="randombar(horizontal)">
                                      <p:cBhvr>
                                        <p:cTn id="33" dur="500"/>
                                        <p:tgtEl>
                                          <p:spTgt spid="4">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4">
                                            <p:txEl>
                                              <p:pRg st="3" end="3"/>
                                            </p:txEl>
                                          </p:spTgt>
                                        </p:tgtEl>
                                        <p:attrNameLst>
                                          <p:attrName>style.visibility</p:attrName>
                                        </p:attrNameLst>
                                      </p:cBhvr>
                                      <p:to>
                                        <p:strVal val="visible"/>
                                      </p:to>
                                    </p:set>
                                    <p:animEffect transition="in" filter="randombar(horizontal)">
                                      <p:cBhvr>
                                        <p:cTn id="38"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uiExpand="1"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1150" y="657225"/>
            <a:ext cx="9001125" cy="1093259"/>
          </a:xfrm>
          <a:gradFill flip="none" rotWithShape="1">
            <a:gsLst>
              <a:gs pos="0">
                <a:schemeClr val="accent3">
                  <a:lumMod val="60000"/>
                  <a:lumOff val="40000"/>
                  <a:shade val="30000"/>
                  <a:satMod val="115000"/>
                </a:schemeClr>
              </a:gs>
              <a:gs pos="50000">
                <a:schemeClr val="accent3">
                  <a:lumMod val="60000"/>
                  <a:lumOff val="40000"/>
                  <a:shade val="67500"/>
                  <a:satMod val="115000"/>
                </a:schemeClr>
              </a:gs>
              <a:gs pos="100000">
                <a:schemeClr val="accent3">
                  <a:lumMod val="60000"/>
                  <a:lumOff val="40000"/>
                  <a:shade val="100000"/>
                  <a:satMod val="115000"/>
                </a:schemeClr>
              </a:gs>
            </a:gsLst>
            <a:lin ang="5400000" scaled="1"/>
            <a:tileRect/>
          </a:gradFill>
          <a:ln>
            <a:noFill/>
          </a:ln>
          <a:effectLst>
            <a:outerShdw blurRad="190500" dist="228600" dir="2700000" algn="ctr">
              <a:srgbClr val="000000">
                <a:alpha val="30000"/>
              </a:srgbClr>
            </a:outerShdw>
          </a:effectLst>
          <a:scene3d>
            <a:camera prst="orthographicFront"/>
            <a:lightRig rig="glow" dir="t">
              <a:rot lat="0" lon="0" rev="4800000"/>
            </a:lightRig>
          </a:scene3d>
          <a:sp3d prstMaterial="matte">
            <a:bevelT w="127000" h="63500"/>
          </a:sp3d>
        </p:spPr>
        <p:style>
          <a:lnRef idx="0">
            <a:scrgbClr r="0" g="0" b="0"/>
          </a:lnRef>
          <a:fillRef idx="1003">
            <a:schemeClr val="lt2"/>
          </a:fillRef>
          <a:effectRef idx="0">
            <a:scrgbClr r="0" g="0" b="0"/>
          </a:effectRef>
          <a:fontRef idx="major"/>
        </p:style>
        <p:txBody>
          <a:bodyPr>
            <a:noAutofit/>
          </a:bodyPr>
          <a:lstStyle/>
          <a:p>
            <a:r>
              <a:rPr lang="en-US" sz="36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Average Hourly Rate of Male Research Scientist</a:t>
            </a:r>
            <a:endParaRPr lang="en-US" sz="36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5" name="Content Placeholder 4"/>
          <p:cNvPicPr>
            <a:picLocks noGrp="1" noChangeAspect="1"/>
          </p:cNvPicPr>
          <p:nvPr>
            <p:ph idx="1"/>
          </p:nvPr>
        </p:nvPicPr>
        <p:blipFill rotWithShape="1">
          <a:blip r:embed="rId2"/>
          <a:srcRect t="20961"/>
          <a:stretch/>
        </p:blipFill>
        <p:spPr>
          <a:xfrm>
            <a:off x="5570538" y="2533650"/>
            <a:ext cx="5470525" cy="2869144"/>
          </a:xfrm>
          <a:prstGeom prst="rect">
            <a:avLst/>
          </a:prstGeom>
          <a:solidFill>
            <a:srgbClr val="000000">
              <a:shade val="95000"/>
            </a:srgbClr>
          </a:solidFill>
          <a:ln w="444500" cap="sq">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4" name="Text Placeholder 3"/>
          <p:cNvSpPr>
            <a:spLocks noGrp="1"/>
          </p:cNvSpPr>
          <p:nvPr>
            <p:ph type="body" sz="half" idx="2"/>
          </p:nvPr>
        </p:nvSpPr>
        <p:spPr>
          <a:xfrm>
            <a:off x="1238250" y="2111976"/>
            <a:ext cx="4332288" cy="3609974"/>
          </a:xfr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5400000" scaled="1"/>
            <a:tileRec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1"/>
          </a:lnRef>
          <a:fillRef idx="3">
            <a:schemeClr val="accent1"/>
          </a:fillRef>
          <a:effectRef idx="3">
            <a:schemeClr val="accent1"/>
          </a:effectRef>
          <a:fontRef idx="minor">
            <a:schemeClr val="lt1"/>
          </a:fontRef>
        </p:style>
        <p:txBody>
          <a:bodyPr>
            <a:normAutofit/>
          </a:bodyPr>
          <a:lstStyle/>
          <a:p>
            <a:pPr marL="171450" indent="-171450" algn="l">
              <a:buFont typeface="Wingdings" panose="05000000000000000000" pitchFamily="2" charset="2"/>
              <a:buChar char="ü"/>
            </a:pPr>
            <a:r>
              <a:rPr lang="en-US" sz="1800" dirty="0"/>
              <a:t>The average hourly pay for research scientists shows a very small difference by gender</a:t>
            </a:r>
            <a:r>
              <a:rPr lang="en-US" sz="1800" dirty="0" smtClean="0"/>
              <a:t>.</a:t>
            </a:r>
          </a:p>
          <a:p>
            <a:pPr marL="171450" indent="-171450" algn="l">
              <a:buFont typeface="Wingdings" panose="05000000000000000000" pitchFamily="2" charset="2"/>
              <a:buChar char="ü"/>
            </a:pPr>
            <a:r>
              <a:rPr lang="en-US" sz="1800" dirty="0"/>
              <a:t>Male scientists earn about </a:t>
            </a:r>
            <a:r>
              <a:rPr lang="en-US" sz="1800" b="1" dirty="0"/>
              <a:t>$115.93 per hour</a:t>
            </a:r>
            <a:r>
              <a:rPr lang="en-US" sz="1800" dirty="0"/>
              <a:t>, while female scientists earn about </a:t>
            </a:r>
            <a:r>
              <a:rPr lang="en-US" sz="1800" b="1" dirty="0"/>
              <a:t>$114.45 per hour</a:t>
            </a:r>
            <a:r>
              <a:rPr lang="en-US" sz="1800" dirty="0" smtClean="0"/>
              <a:t>.</a:t>
            </a:r>
          </a:p>
          <a:p>
            <a:pPr marL="171450" indent="-171450" algn="l">
              <a:buFont typeface="Wingdings" panose="05000000000000000000" pitchFamily="2" charset="2"/>
              <a:buChar char="ü"/>
            </a:pPr>
            <a:r>
              <a:rPr lang="en-US" sz="1800" dirty="0"/>
              <a:t>This indicates a </a:t>
            </a:r>
            <a:r>
              <a:rPr lang="en-US" sz="1800" b="1" dirty="0"/>
              <a:t>minimal gender pay gap</a:t>
            </a:r>
            <a:r>
              <a:rPr lang="en-US" sz="1800" dirty="0"/>
              <a:t> in research science roles.</a:t>
            </a:r>
            <a:endParaRPr lang="en-US" sz="1800" dirty="0"/>
          </a:p>
        </p:txBody>
      </p:sp>
    </p:spTree>
    <p:extLst>
      <p:ext uri="{BB962C8B-B14F-4D97-AF65-F5344CB8AC3E}">
        <p14:creationId xmlns:p14="http://schemas.microsoft.com/office/powerpoint/2010/main" val="128733117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4">
                                            <p:bg/>
                                          </p:spTgt>
                                        </p:tgtEl>
                                        <p:attrNameLst>
                                          <p:attrName>style.visibility</p:attrName>
                                        </p:attrNameLst>
                                      </p:cBhvr>
                                      <p:to>
                                        <p:strVal val="visible"/>
                                      </p:to>
                                    </p:set>
                                    <p:animEffect transition="in" filter="wheel(1)">
                                      <p:cBhvr>
                                        <p:cTn id="18" dur="2000"/>
                                        <p:tgtEl>
                                          <p:spTgt spid="4">
                                            <p:bg/>
                                          </p:spTgt>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animEffect transition="in" filter="wheel(1)">
                                      <p:cBhvr>
                                        <p:cTn id="23" dur="2000"/>
                                        <p:tgtEl>
                                          <p:spTgt spid="4">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4">
                                            <p:txEl>
                                              <p:pRg st="1" end="1"/>
                                            </p:txEl>
                                          </p:spTgt>
                                        </p:tgtEl>
                                        <p:attrNameLst>
                                          <p:attrName>style.visibility</p:attrName>
                                        </p:attrNameLst>
                                      </p:cBhvr>
                                      <p:to>
                                        <p:strVal val="visible"/>
                                      </p:to>
                                    </p:set>
                                    <p:animEffect transition="in" filter="wheel(1)">
                                      <p:cBhvr>
                                        <p:cTn id="28" dur="2000"/>
                                        <p:tgtEl>
                                          <p:spTgt spid="4">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animEffect transition="in" filter="wheel(1)">
                                      <p:cBhvr>
                                        <p:cTn id="33"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2" y="648757"/>
            <a:ext cx="9601196" cy="1303867"/>
          </a:xfrm>
          <a:gradFill flip="none" rotWithShape="1">
            <a:gsLst>
              <a:gs pos="0">
                <a:srgbClr val="33CCFF">
                  <a:shade val="30000"/>
                  <a:satMod val="115000"/>
                </a:srgbClr>
              </a:gs>
              <a:gs pos="50000">
                <a:srgbClr val="33CCFF">
                  <a:shade val="67500"/>
                  <a:satMod val="115000"/>
                </a:srgbClr>
              </a:gs>
              <a:gs pos="100000">
                <a:srgbClr val="33CCFF">
                  <a:shade val="100000"/>
                  <a:satMod val="115000"/>
                </a:srgbClr>
              </a:gs>
            </a:gsLst>
            <a:lin ang="5400000" scaled="1"/>
            <a:tileRect/>
          </a:gradFill>
          <a:effectLst>
            <a:outerShdw blurRad="50800" dist="38100" dir="5400000" algn="t"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a:normAutofit/>
          </a:bodyPr>
          <a:lstStyle/>
          <a:p>
            <a:r>
              <a:rPr lang="en-US" sz="48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Attribute Rate V/S Monthly Income</a:t>
            </a:r>
            <a:endParaRPr lang="en-US" sz="48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3" name="Picture 2"/>
          <p:cNvPicPr>
            <a:picLocks noChangeAspect="1"/>
          </p:cNvPicPr>
          <p:nvPr/>
        </p:nvPicPr>
        <p:blipFill>
          <a:blip r:embed="rId2"/>
          <a:stretch>
            <a:fillRect/>
          </a:stretch>
        </p:blipFill>
        <p:spPr>
          <a:xfrm>
            <a:off x="1219202" y="2019300"/>
            <a:ext cx="5461684" cy="3931362"/>
          </a:xfrm>
          <a:prstGeom prst="rect">
            <a:avLst/>
          </a:prstGeom>
          <a:ln>
            <a:noFill/>
          </a:ln>
          <a:effectLst>
            <a:outerShdw blurRad="292100" dist="139700" dir="2700000" algn="tl" rotWithShape="0">
              <a:srgbClr val="333333">
                <a:alpha val="65000"/>
              </a:srgbClr>
            </a:outerShdw>
          </a:effectLst>
        </p:spPr>
      </p:pic>
      <p:sp>
        <p:nvSpPr>
          <p:cNvPr id="4" name="TextBox 3"/>
          <p:cNvSpPr txBox="1"/>
          <p:nvPr/>
        </p:nvSpPr>
        <p:spPr>
          <a:xfrm>
            <a:off x="6985686" y="2372497"/>
            <a:ext cx="4291914" cy="341632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2">
            <a:schemeClr val="accent2"/>
          </a:fillRef>
          <a:effectRef idx="1">
            <a:schemeClr val="accent2"/>
          </a:effectRef>
          <a:fontRef idx="minor">
            <a:schemeClr val="dk1"/>
          </a:fontRef>
        </p:style>
        <p:txBody>
          <a:bodyPr wrap="square" rtlCol="0">
            <a:spAutoFit/>
          </a:bodyPr>
          <a:lstStyle/>
          <a:p>
            <a:pPr marL="285750" indent="-285750">
              <a:buFont typeface="Wingdings" panose="05000000000000000000" pitchFamily="2" charset="2"/>
              <a:buChar char="ü"/>
            </a:pPr>
            <a:r>
              <a:rPr lang="en-US" dirty="0">
                <a:solidFill>
                  <a:schemeClr val="accent1">
                    <a:lumMod val="50000"/>
                  </a:schemeClr>
                </a:solidFill>
              </a:rPr>
              <a:t>Attrition rates vary slightly across departments</a:t>
            </a:r>
            <a:r>
              <a:rPr lang="en-US" dirty="0" smtClean="0">
                <a:solidFill>
                  <a:schemeClr val="accent1">
                    <a:lumMod val="50000"/>
                  </a:schemeClr>
                </a:solidFill>
              </a:rPr>
              <a:t>.</a:t>
            </a:r>
          </a:p>
          <a:p>
            <a:pPr marL="285750" indent="-285750">
              <a:buFont typeface="Wingdings" panose="05000000000000000000" pitchFamily="2" charset="2"/>
              <a:buChar char="ü"/>
            </a:pPr>
            <a:r>
              <a:rPr lang="en-US" dirty="0">
                <a:solidFill>
                  <a:schemeClr val="accent1">
                    <a:lumMod val="50000"/>
                  </a:schemeClr>
                </a:solidFill>
              </a:rPr>
              <a:t>The </a:t>
            </a:r>
            <a:r>
              <a:rPr lang="en-US" b="1" dirty="0">
                <a:solidFill>
                  <a:schemeClr val="accent1">
                    <a:lumMod val="50000"/>
                  </a:schemeClr>
                </a:solidFill>
              </a:rPr>
              <a:t>Hardware</a:t>
            </a:r>
            <a:r>
              <a:rPr lang="en-US" dirty="0">
                <a:solidFill>
                  <a:schemeClr val="accent1">
                    <a:lumMod val="50000"/>
                  </a:schemeClr>
                </a:solidFill>
              </a:rPr>
              <a:t> department has the lowest attrition (~49%), while </a:t>
            </a:r>
            <a:r>
              <a:rPr lang="en-US" b="1" dirty="0">
                <a:solidFill>
                  <a:schemeClr val="accent1">
                    <a:lumMod val="50000"/>
                  </a:schemeClr>
                </a:solidFill>
              </a:rPr>
              <a:t>Research &amp; Development</a:t>
            </a:r>
            <a:r>
              <a:rPr lang="en-US" dirty="0">
                <a:solidFill>
                  <a:schemeClr val="accent1">
                    <a:lumMod val="50000"/>
                  </a:schemeClr>
                </a:solidFill>
              </a:rPr>
              <a:t> and </a:t>
            </a:r>
            <a:r>
              <a:rPr lang="en-US" b="1" dirty="0">
                <a:solidFill>
                  <a:schemeClr val="accent1">
                    <a:lumMod val="50000"/>
                  </a:schemeClr>
                </a:solidFill>
              </a:rPr>
              <a:t>Software</a:t>
            </a:r>
            <a:r>
              <a:rPr lang="en-US" dirty="0">
                <a:solidFill>
                  <a:schemeClr val="accent1">
                    <a:lumMod val="50000"/>
                  </a:schemeClr>
                </a:solidFill>
              </a:rPr>
              <a:t> have the highest (~51</a:t>
            </a:r>
            <a:r>
              <a:rPr lang="en-US" dirty="0" smtClean="0">
                <a:solidFill>
                  <a:schemeClr val="accent1">
                    <a:lumMod val="50000"/>
                  </a:schemeClr>
                </a:solidFill>
              </a:rPr>
              <a:t>%).</a:t>
            </a:r>
          </a:p>
          <a:p>
            <a:pPr marL="285750" indent="-285750">
              <a:buFont typeface="Wingdings" panose="05000000000000000000" pitchFamily="2" charset="2"/>
              <a:buChar char="ü"/>
            </a:pPr>
            <a:r>
              <a:rPr lang="en-US" dirty="0">
                <a:solidFill>
                  <a:schemeClr val="accent1">
                    <a:lumMod val="50000"/>
                  </a:schemeClr>
                </a:solidFill>
              </a:rPr>
              <a:t>This indicates the need to identify and address department-specific factors affecting employee retention</a:t>
            </a:r>
            <a:r>
              <a:rPr lang="en-US" dirty="0" smtClean="0">
                <a:solidFill>
                  <a:schemeClr val="accent1">
                    <a:lumMod val="50000"/>
                  </a:schemeClr>
                </a:solidFill>
              </a:rPr>
              <a:t>.</a:t>
            </a:r>
          </a:p>
          <a:p>
            <a:pPr marL="285750" indent="-285750">
              <a:buFont typeface="Wingdings" panose="05000000000000000000" pitchFamily="2" charset="2"/>
              <a:buChar char="ü"/>
            </a:pPr>
            <a:r>
              <a:rPr lang="en-US" dirty="0">
                <a:solidFill>
                  <a:schemeClr val="accent1">
                    <a:lumMod val="50000"/>
                  </a:schemeClr>
                </a:solidFill>
              </a:rPr>
              <a:t>The average monthly income across departments is relatively similar, ranging from </a:t>
            </a:r>
            <a:r>
              <a:rPr lang="en-US" b="1" dirty="0">
                <a:solidFill>
                  <a:schemeClr val="accent1">
                    <a:lumMod val="50000"/>
                  </a:schemeClr>
                </a:solidFill>
              </a:rPr>
              <a:t>₹25,796 to ₹26,118</a:t>
            </a:r>
            <a:r>
              <a:rPr lang="en-US" dirty="0">
                <a:solidFill>
                  <a:schemeClr val="accent1">
                    <a:lumMod val="50000"/>
                  </a:schemeClr>
                </a:solidFill>
              </a:rPr>
              <a:t>.</a:t>
            </a:r>
          </a:p>
        </p:txBody>
      </p:sp>
    </p:spTree>
    <p:extLst>
      <p:ext uri="{BB962C8B-B14F-4D97-AF65-F5344CB8AC3E}">
        <p14:creationId xmlns:p14="http://schemas.microsoft.com/office/powerpoint/2010/main" val="1884389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52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anim calcmode="lin" valueType="num">
                                      <p:cBhvr>
                                        <p:cTn id="15" dur="500" fill="hold"/>
                                        <p:tgtEl>
                                          <p:spTgt spid="3"/>
                                        </p:tgtEl>
                                        <p:attrNameLst>
                                          <p:attrName>ppt_x</p:attrName>
                                        </p:attrNameLst>
                                      </p:cBhvr>
                                      <p:tavLst>
                                        <p:tav tm="0">
                                          <p:val>
                                            <p:fltVal val="0.5"/>
                                          </p:val>
                                        </p:tav>
                                        <p:tav tm="100000">
                                          <p:val>
                                            <p:strVal val="#ppt_x"/>
                                          </p:val>
                                        </p:tav>
                                      </p:tavLst>
                                    </p:anim>
                                    <p:anim calcmode="lin" valueType="num">
                                      <p:cBhvr>
                                        <p:cTn id="16" dur="500" fill="hold"/>
                                        <p:tgtEl>
                                          <p:spTgt spid="3"/>
                                        </p:tgtEl>
                                        <p:attrNameLst>
                                          <p:attrName>ppt_y</p:attrName>
                                        </p:attrNameLst>
                                      </p:cBhvr>
                                      <p:tavLst>
                                        <p:tav tm="0">
                                          <p:val>
                                            <p:fltVal val="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42"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arn(outHorizontal)">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704850"/>
            <a:ext cx="9601196" cy="857251"/>
          </a:xfrm>
          <a:scene3d>
            <a:camera prst="orthographicFront"/>
            <a:lightRig rig="threePt" dir="t"/>
          </a:scene3d>
          <a:sp3d>
            <a:bevelT/>
          </a:sp3d>
        </p:spPr>
        <p:style>
          <a:lnRef idx="1">
            <a:schemeClr val="accent6"/>
          </a:lnRef>
          <a:fillRef idx="2">
            <a:schemeClr val="accent6"/>
          </a:fillRef>
          <a:effectRef idx="1">
            <a:schemeClr val="accent6"/>
          </a:effectRef>
          <a:fontRef idx="minor">
            <a:schemeClr val="dk1"/>
          </a:fontRef>
        </p:style>
        <p:txBody>
          <a:bodyPr>
            <a:normAutofit/>
          </a:bodyPr>
          <a:lstStyle/>
          <a:p>
            <a:r>
              <a:rPr lang="en-US" dirty="0" smtClean="0"/>
              <a:t>Average Working Year of All Department</a:t>
            </a:r>
            <a:endParaRPr lang="en-US" dirty="0"/>
          </a:p>
        </p:txBody>
      </p:sp>
      <p:pic>
        <p:nvPicPr>
          <p:cNvPr id="4" name="Content Placeholder 3"/>
          <p:cNvPicPr>
            <a:picLocks noGrp="1" noChangeAspect="1"/>
          </p:cNvPicPr>
          <p:nvPr>
            <p:ph idx="1"/>
          </p:nvPr>
        </p:nvPicPr>
        <p:blipFill>
          <a:blip r:embed="rId2"/>
          <a:stretch>
            <a:fillRect/>
          </a:stretch>
        </p:blipFill>
        <p:spPr>
          <a:xfrm>
            <a:off x="776418" y="1622854"/>
            <a:ext cx="6373035" cy="4275437"/>
          </a:xfrm>
          <a:prstGeom prst="rect">
            <a:avLst/>
          </a:prstGeom>
          <a:ln w="38100">
            <a:solidFill>
              <a:schemeClr val="tx1"/>
            </a:solidFill>
          </a:ln>
          <a:scene3d>
            <a:camera prst="perspectiveFront"/>
            <a:lightRig rig="threePt" dir="t"/>
          </a:scene3d>
        </p:spPr>
      </p:pic>
      <p:sp>
        <p:nvSpPr>
          <p:cNvPr id="3" name="Rounded Rectangle 2"/>
          <p:cNvSpPr/>
          <p:nvPr/>
        </p:nvSpPr>
        <p:spPr>
          <a:xfrm>
            <a:off x="7397578" y="1655805"/>
            <a:ext cx="3797644" cy="4357817"/>
          </a:xfrm>
          <a:prstGeom prst="roundRect">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0" scaled="1"/>
            <a:tileRect/>
          </a:gra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Wingdings" panose="05000000000000000000" pitchFamily="2" charset="2"/>
              <a:buChar char="ü"/>
            </a:pPr>
            <a:r>
              <a:rPr lang="en-US" sz="16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The average working years across departments are very stable, around </a:t>
            </a:r>
            <a:r>
              <a:rPr lang="en-US" sz="16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20 years</a:t>
            </a:r>
            <a:r>
              <a:rPr lang="en-US" sz="1600" dirty="0" smtClean="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a:t>
            </a:r>
          </a:p>
          <a:p>
            <a:pPr marL="285750" indent="-285750">
              <a:buFont typeface="Wingdings" panose="05000000000000000000" pitchFamily="2" charset="2"/>
              <a:buChar char="ü"/>
            </a:pPr>
            <a:r>
              <a:rPr lang="en-US" sz="16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Hardware (20.48 </a:t>
            </a:r>
            <a:r>
              <a:rPr lang="en-US" sz="1600" b="1" dirty="0" err="1">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yrs</a:t>
            </a:r>
            <a:r>
              <a:rPr lang="en-US" sz="16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a:t>
            </a:r>
            <a:r>
              <a:rPr lang="en-US" sz="16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 </a:t>
            </a:r>
            <a:r>
              <a:rPr lang="en-US" sz="16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Human Resources </a:t>
            </a:r>
            <a:r>
              <a:rPr lang="en-US" sz="1600" b="1" dirty="0" smtClean="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a:t>
            </a:r>
            <a:r>
              <a:rPr lang="en-US" sz="16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20.45 </a:t>
            </a:r>
            <a:r>
              <a:rPr lang="en-US" sz="1600" b="1" dirty="0" err="1">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yrs</a:t>
            </a:r>
            <a:r>
              <a:rPr lang="en-US" sz="16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a:t>
            </a:r>
            <a:r>
              <a:rPr lang="en-US" sz="16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 and </a:t>
            </a:r>
            <a:r>
              <a:rPr lang="en-US" sz="16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Support (20.48 </a:t>
            </a:r>
            <a:r>
              <a:rPr lang="en-US" sz="1600" b="1" dirty="0" err="1">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yrs</a:t>
            </a:r>
            <a:r>
              <a:rPr lang="en-US" sz="16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a:t>
            </a:r>
            <a:r>
              <a:rPr lang="en-US" sz="16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 show similar tenure </a:t>
            </a:r>
            <a:r>
              <a:rPr lang="en-US" sz="1600" dirty="0" smtClean="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levels</a:t>
            </a:r>
          </a:p>
          <a:p>
            <a:pPr marL="285750" indent="-285750">
              <a:buFont typeface="Wingdings" panose="05000000000000000000" pitchFamily="2" charset="2"/>
              <a:buChar char="ü"/>
            </a:pPr>
            <a:r>
              <a:rPr lang="en-US" sz="16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This consistency indicates a stable workforce that helps retain organizational knowledge and expertise</a:t>
            </a:r>
            <a:r>
              <a:rPr lang="en-US" sz="1600" dirty="0" smtClean="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a:t>
            </a:r>
          </a:p>
          <a:p>
            <a:pPr marL="285750" indent="-285750">
              <a:buFont typeface="Wingdings" panose="05000000000000000000" pitchFamily="2" charset="2"/>
              <a:buChar char="ü"/>
            </a:pPr>
            <a:r>
              <a:rPr lang="en-US" sz="16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Sales (20.62 </a:t>
            </a:r>
            <a:r>
              <a:rPr lang="en-US" sz="1600" b="1" dirty="0" err="1">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yrs</a:t>
            </a:r>
            <a:r>
              <a:rPr lang="en-US" sz="16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a:t>
            </a:r>
            <a:r>
              <a:rPr lang="en-US" sz="16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 and </a:t>
            </a:r>
            <a:r>
              <a:rPr lang="en-US" sz="16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Software (20.65 </a:t>
            </a:r>
            <a:r>
              <a:rPr lang="en-US" sz="1600" b="1" dirty="0" err="1">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yrs</a:t>
            </a:r>
            <a:r>
              <a:rPr lang="en-US" sz="16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a:t>
            </a:r>
            <a:r>
              <a:rPr lang="en-US" sz="16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 have slightly higher average tenure.</a:t>
            </a:r>
          </a:p>
        </p:txBody>
      </p:sp>
    </p:spTree>
    <p:extLst>
      <p:ext uri="{BB962C8B-B14F-4D97-AF65-F5344CB8AC3E}">
        <p14:creationId xmlns:p14="http://schemas.microsoft.com/office/powerpoint/2010/main" val="264251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5"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randombar(vertical)">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666750"/>
            <a:ext cx="9601196" cy="752475"/>
          </a:xfrm>
          <a:gradFill flip="none" rotWithShape="1">
            <a:gsLst>
              <a:gs pos="0">
                <a:schemeClr val="accent4">
                  <a:lumMod val="75000"/>
                  <a:shade val="30000"/>
                  <a:satMod val="115000"/>
                </a:schemeClr>
              </a:gs>
              <a:gs pos="50000">
                <a:schemeClr val="accent4">
                  <a:lumMod val="75000"/>
                  <a:shade val="67500"/>
                  <a:satMod val="115000"/>
                </a:schemeClr>
              </a:gs>
              <a:gs pos="100000">
                <a:schemeClr val="accent4">
                  <a:lumMod val="75000"/>
                  <a:shade val="100000"/>
                  <a:satMod val="115000"/>
                </a:schemeClr>
              </a:gs>
            </a:gsLst>
            <a:path path="circle">
              <a:fillToRect l="50000" t="50000" r="50000" b="50000"/>
            </a:path>
            <a:tileRect/>
          </a:gradFill>
        </p:spPr>
        <p:style>
          <a:lnRef idx="1">
            <a:schemeClr val="accent6"/>
          </a:lnRef>
          <a:fillRef idx="3">
            <a:schemeClr val="accent6"/>
          </a:fillRef>
          <a:effectRef idx="2">
            <a:schemeClr val="accent6"/>
          </a:effectRef>
          <a:fontRef idx="minor">
            <a:schemeClr val="lt1"/>
          </a:fontRef>
        </p:style>
        <p:txBody>
          <a:bodyPr>
            <a:normAutofit fontScale="90000"/>
          </a:bodyPr>
          <a:lstStyle/>
          <a:p>
            <a:r>
              <a:rPr lang="en-US" b="1" dirty="0" smtClean="0">
                <a:ln w="22225">
                  <a:solidFill>
                    <a:schemeClr val="accent2"/>
                  </a:solidFill>
                  <a:prstDash val="solid"/>
                </a:ln>
                <a:solidFill>
                  <a:schemeClr val="accent2">
                    <a:lumMod val="40000"/>
                    <a:lumOff val="60000"/>
                  </a:schemeClr>
                </a:solidFill>
              </a:rPr>
              <a:t>Work Life Balance Matrix</a:t>
            </a:r>
            <a:endParaRPr lang="en-US" b="1" dirty="0">
              <a:ln w="22225">
                <a:solidFill>
                  <a:schemeClr val="accent2"/>
                </a:solidFill>
                <a:prstDash val="solid"/>
              </a:ln>
              <a:solidFill>
                <a:schemeClr val="accent2">
                  <a:lumMod val="40000"/>
                  <a:lumOff val="60000"/>
                </a:schemeClr>
              </a:solidFill>
            </a:endParaRPr>
          </a:p>
        </p:txBody>
      </p:sp>
      <p:pic>
        <p:nvPicPr>
          <p:cNvPr id="3" name="Picture 2"/>
          <p:cNvPicPr>
            <a:picLocks noChangeAspect="1"/>
          </p:cNvPicPr>
          <p:nvPr/>
        </p:nvPicPr>
        <p:blipFill>
          <a:blip r:embed="rId2"/>
          <a:stretch>
            <a:fillRect/>
          </a:stretch>
        </p:blipFill>
        <p:spPr>
          <a:xfrm>
            <a:off x="772226" y="1499286"/>
            <a:ext cx="6226847" cy="47532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ound Single Corner Rectangle 5"/>
          <p:cNvSpPr/>
          <p:nvPr/>
        </p:nvSpPr>
        <p:spPr>
          <a:xfrm>
            <a:off x="7059827" y="1499285"/>
            <a:ext cx="4333103" cy="4687331"/>
          </a:xfrm>
          <a:prstGeom prst="round1Rect">
            <a:avLst/>
          </a:prstGeom>
        </p:spPr>
        <p:style>
          <a:lnRef idx="1">
            <a:schemeClr val="dk1"/>
          </a:lnRef>
          <a:fillRef idx="2">
            <a:schemeClr val="dk1"/>
          </a:fillRef>
          <a:effectRef idx="1">
            <a:schemeClr val="dk1"/>
          </a:effectRef>
          <a:fontRef idx="minor">
            <a:schemeClr val="dk1"/>
          </a:fontRef>
        </p:style>
        <p:txBody>
          <a:bodyPr rtlCol="0" anchor="t"/>
          <a:lstStyle/>
          <a:p>
            <a:pPr marL="285750" indent="-285750">
              <a:buFont typeface="Wingdings" panose="05000000000000000000" pitchFamily="2" charset="2"/>
              <a:buChar char="ü"/>
            </a:pPr>
            <a:r>
              <a:rPr lang="en-US" sz="1600" dirty="0">
                <a:solidFill>
                  <a:schemeClr val="bg1"/>
                </a:solidFill>
              </a:rPr>
              <a:t>Job roles with better work-life balance include </a:t>
            </a:r>
            <a:r>
              <a:rPr lang="en-US" sz="1600" b="1" dirty="0">
                <a:solidFill>
                  <a:schemeClr val="bg1"/>
                </a:solidFill>
              </a:rPr>
              <a:t>Healthcare Representatives</a:t>
            </a:r>
            <a:r>
              <a:rPr lang="en-US" sz="1600" dirty="0">
                <a:solidFill>
                  <a:schemeClr val="bg1"/>
                </a:solidFill>
              </a:rPr>
              <a:t> and </a:t>
            </a:r>
            <a:r>
              <a:rPr lang="en-US" sz="1600" b="1" dirty="0">
                <a:solidFill>
                  <a:schemeClr val="bg1"/>
                </a:solidFill>
              </a:rPr>
              <a:t>Human Resources professionals</a:t>
            </a:r>
            <a:r>
              <a:rPr lang="en-US" sz="1600" dirty="0">
                <a:solidFill>
                  <a:schemeClr val="bg1"/>
                </a:solidFill>
              </a:rPr>
              <a:t>, with average scores above </a:t>
            </a:r>
            <a:r>
              <a:rPr lang="en-US" sz="1600" b="1" dirty="0">
                <a:solidFill>
                  <a:schemeClr val="bg1"/>
                </a:solidFill>
              </a:rPr>
              <a:t>1,230</a:t>
            </a:r>
            <a:r>
              <a:rPr lang="en-US" sz="1600" dirty="0" smtClean="0">
                <a:solidFill>
                  <a:schemeClr val="bg1"/>
                </a:solidFill>
              </a:rPr>
              <a:t>.</a:t>
            </a:r>
          </a:p>
          <a:p>
            <a:pPr marL="285750" indent="-285750">
              <a:buFont typeface="Wingdings" panose="05000000000000000000" pitchFamily="2" charset="2"/>
              <a:buChar char="ü"/>
            </a:pPr>
            <a:r>
              <a:rPr lang="en-US" sz="1600" dirty="0">
                <a:solidFill>
                  <a:schemeClr val="bg1"/>
                </a:solidFill>
              </a:rPr>
              <a:t>Roles such as </a:t>
            </a:r>
            <a:r>
              <a:rPr lang="en-US" sz="1600" b="1" dirty="0">
                <a:solidFill>
                  <a:schemeClr val="bg1"/>
                </a:solidFill>
              </a:rPr>
              <a:t>Manufacturing Directors</a:t>
            </a:r>
            <a:r>
              <a:rPr lang="en-US" sz="1600" dirty="0">
                <a:solidFill>
                  <a:schemeClr val="bg1"/>
                </a:solidFill>
              </a:rPr>
              <a:t> and </a:t>
            </a:r>
            <a:r>
              <a:rPr lang="en-US" sz="1600" b="1" dirty="0">
                <a:solidFill>
                  <a:schemeClr val="bg1"/>
                </a:solidFill>
              </a:rPr>
              <a:t>Sales Executives</a:t>
            </a:r>
            <a:r>
              <a:rPr lang="en-US" sz="1600" dirty="0">
                <a:solidFill>
                  <a:schemeClr val="bg1"/>
                </a:solidFill>
              </a:rPr>
              <a:t> show comparatively poorer work-life balance, with scores below </a:t>
            </a:r>
            <a:r>
              <a:rPr lang="en-US" sz="1600" b="1" dirty="0">
                <a:solidFill>
                  <a:schemeClr val="bg1"/>
                </a:solidFill>
              </a:rPr>
              <a:t>1,250</a:t>
            </a:r>
            <a:r>
              <a:rPr lang="en-US" sz="1600" dirty="0" smtClean="0">
                <a:solidFill>
                  <a:schemeClr val="bg1"/>
                </a:solidFill>
              </a:rPr>
              <a:t>.</a:t>
            </a:r>
          </a:p>
          <a:p>
            <a:pPr marL="285750" indent="-285750">
              <a:buFont typeface="Wingdings" panose="05000000000000000000" pitchFamily="2" charset="2"/>
              <a:buChar char="ü"/>
            </a:pPr>
            <a:r>
              <a:rPr lang="en-US" sz="1600" dirty="0">
                <a:solidFill>
                  <a:schemeClr val="bg1"/>
                </a:solidFill>
              </a:rPr>
              <a:t>Work-life balance can differ widely within the same job role</a:t>
            </a:r>
            <a:r>
              <a:rPr lang="en-US" sz="1600" dirty="0" smtClean="0">
                <a:solidFill>
                  <a:schemeClr val="bg1"/>
                </a:solidFill>
              </a:rPr>
              <a:t>.</a:t>
            </a:r>
          </a:p>
          <a:p>
            <a:pPr marL="285750" indent="-285750">
              <a:buFont typeface="Wingdings" panose="05000000000000000000" pitchFamily="2" charset="2"/>
              <a:buChar char="ü"/>
            </a:pPr>
            <a:r>
              <a:rPr lang="en-US" sz="1600" dirty="0">
                <a:solidFill>
                  <a:schemeClr val="bg1"/>
                </a:solidFill>
              </a:rPr>
              <a:t>For example, </a:t>
            </a:r>
            <a:r>
              <a:rPr lang="en-US" sz="1600" b="1" dirty="0">
                <a:solidFill>
                  <a:schemeClr val="bg1"/>
                </a:solidFill>
              </a:rPr>
              <a:t>Research Scientists</a:t>
            </a:r>
            <a:r>
              <a:rPr lang="en-US" sz="1600" dirty="0">
                <a:solidFill>
                  <a:schemeClr val="bg1"/>
                </a:solidFill>
              </a:rPr>
              <a:t> have an average score around </a:t>
            </a:r>
            <a:r>
              <a:rPr lang="en-US" sz="1600" b="1" dirty="0">
                <a:solidFill>
                  <a:schemeClr val="bg1"/>
                </a:solidFill>
              </a:rPr>
              <a:t>1,256</a:t>
            </a:r>
            <a:r>
              <a:rPr lang="en-US" sz="1600" dirty="0">
                <a:solidFill>
                  <a:schemeClr val="bg1"/>
                </a:solidFill>
              </a:rPr>
              <a:t>, but individual scores range from above </a:t>
            </a:r>
            <a:r>
              <a:rPr lang="en-US" sz="1600" b="1" dirty="0">
                <a:solidFill>
                  <a:schemeClr val="bg1"/>
                </a:solidFill>
              </a:rPr>
              <a:t>1,280</a:t>
            </a:r>
            <a:r>
              <a:rPr lang="en-US" sz="1600" dirty="0">
                <a:solidFill>
                  <a:schemeClr val="bg1"/>
                </a:solidFill>
              </a:rPr>
              <a:t> (excellent balance) to below </a:t>
            </a:r>
            <a:r>
              <a:rPr lang="en-US" sz="1600" b="1" dirty="0">
                <a:solidFill>
                  <a:schemeClr val="bg1"/>
                </a:solidFill>
              </a:rPr>
              <a:t>1,240</a:t>
            </a:r>
            <a:r>
              <a:rPr lang="en-US" sz="1600" dirty="0">
                <a:solidFill>
                  <a:schemeClr val="bg1"/>
                </a:solidFill>
              </a:rPr>
              <a:t> (poor balance</a:t>
            </a:r>
            <a:r>
              <a:rPr lang="en-US" sz="1600" dirty="0" smtClean="0">
                <a:solidFill>
                  <a:schemeClr val="bg1"/>
                </a:solidFill>
              </a:rPr>
              <a:t>).</a:t>
            </a:r>
          </a:p>
          <a:p>
            <a:pPr marL="285750" indent="-285750">
              <a:buFont typeface="Wingdings" panose="05000000000000000000" pitchFamily="2" charset="2"/>
              <a:buChar char="ü"/>
            </a:pPr>
            <a:r>
              <a:rPr lang="en-US" sz="1600" dirty="0">
                <a:solidFill>
                  <a:schemeClr val="bg1"/>
                </a:solidFill>
              </a:rPr>
              <a:t>This variation highlights that personal factors, team environment, workload, and company policies strongly influence work-life balance, even within the same job category.</a:t>
            </a:r>
          </a:p>
          <a:p>
            <a:endParaRPr lang="en-US" dirty="0"/>
          </a:p>
        </p:txBody>
      </p:sp>
    </p:spTree>
    <p:extLst>
      <p:ext uri="{BB962C8B-B14F-4D97-AF65-F5344CB8AC3E}">
        <p14:creationId xmlns:p14="http://schemas.microsoft.com/office/powerpoint/2010/main" val="2274986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out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32"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ircle(out)">
                                      <p:cBhvr>
                                        <p:cTn id="1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39232"/>
            <a:ext cx="10515599" cy="994833"/>
          </a:xfrm>
          <a:effectLst>
            <a:outerShdw blurRad="50800" dist="38100" dir="2700000" algn="tl"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a:lstStyle/>
          <a:p>
            <a:r>
              <a:rPr lang="en-US" b="1" spc="50" dirty="0" smtClean="0">
                <a:ln w="9525" cmpd="sng">
                  <a:solidFill>
                    <a:schemeClr val="accent1"/>
                  </a:solidFill>
                  <a:prstDash val="solid"/>
                </a:ln>
                <a:solidFill>
                  <a:srgbClr val="70AD47">
                    <a:tint val="1000"/>
                  </a:srgbClr>
                </a:solidFill>
                <a:effectLst>
                  <a:glow rad="38100">
                    <a:schemeClr val="accent1">
                      <a:alpha val="40000"/>
                    </a:schemeClr>
                  </a:glow>
                </a:effectLst>
              </a:rPr>
              <a:t>Attribute Rate V/S Last Year Promotion</a:t>
            </a:r>
            <a:endParaRPr lang="en-US"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pic>
        <p:nvPicPr>
          <p:cNvPr id="3" name="Picture 2"/>
          <p:cNvPicPr>
            <a:picLocks noChangeAspect="1"/>
          </p:cNvPicPr>
          <p:nvPr/>
        </p:nvPicPr>
        <p:blipFill>
          <a:blip r:embed="rId2"/>
          <a:stretch>
            <a:fillRect/>
          </a:stretch>
        </p:blipFill>
        <p:spPr>
          <a:xfrm>
            <a:off x="914400" y="1634065"/>
            <a:ext cx="5937811" cy="4494886"/>
          </a:xfrm>
          <a:prstGeom prst="rect">
            <a:avLst/>
          </a:prstGeom>
        </p:spPr>
      </p:pic>
      <p:sp>
        <p:nvSpPr>
          <p:cNvPr id="4" name="Round Diagonal Corner Rectangle 3"/>
          <p:cNvSpPr/>
          <p:nvPr/>
        </p:nvSpPr>
        <p:spPr>
          <a:xfrm>
            <a:off x="6852211" y="1721708"/>
            <a:ext cx="4577787" cy="4341341"/>
          </a:xfrm>
          <a:prstGeom prst="round2DiagRect">
            <a:avLst/>
          </a:prstGeom>
          <a:solidFill>
            <a:schemeClr val="tx1">
              <a:lumMod val="75000"/>
              <a:lumOff val="2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rtlCol="0" anchor="t"/>
          <a:lstStyle/>
          <a:p>
            <a:pPr marL="285750" indent="-285750">
              <a:buFont typeface="Wingdings" panose="05000000000000000000" pitchFamily="2" charset="2"/>
              <a:buChar char="ü"/>
            </a:pPr>
            <a:r>
              <a:rPr lang="en-US" sz="1400" b="1" dirty="0">
                <a:solidFill>
                  <a:schemeClr val="accent2">
                    <a:lumMod val="60000"/>
                    <a:lumOff val="40000"/>
                  </a:schemeClr>
                </a:solidFill>
              </a:rPr>
              <a:t>0–5 years since last promotion:</a:t>
            </a:r>
            <a:r>
              <a:rPr lang="en-US" sz="1400" dirty="0">
                <a:solidFill>
                  <a:schemeClr val="accent2">
                    <a:lumMod val="60000"/>
                    <a:lumOff val="40000"/>
                  </a:schemeClr>
                </a:solidFill>
              </a:rPr>
              <a:t> </a:t>
            </a:r>
            <a:r>
              <a:rPr lang="en-US" sz="1400" b="1" dirty="0">
                <a:solidFill>
                  <a:schemeClr val="accent2">
                    <a:lumMod val="60000"/>
                    <a:lumOff val="40000"/>
                  </a:schemeClr>
                </a:solidFill>
              </a:rPr>
              <a:t>Research &amp; Development</a:t>
            </a:r>
            <a:r>
              <a:rPr lang="en-US" sz="1400" dirty="0">
                <a:solidFill>
                  <a:schemeClr val="accent2">
                    <a:lumMod val="60000"/>
                    <a:lumOff val="40000"/>
                  </a:schemeClr>
                </a:solidFill>
              </a:rPr>
              <a:t> has the highest attrition, while </a:t>
            </a:r>
            <a:r>
              <a:rPr lang="en-US" sz="1400" b="1" dirty="0">
                <a:solidFill>
                  <a:schemeClr val="accent2">
                    <a:lumMod val="60000"/>
                    <a:lumOff val="40000"/>
                  </a:schemeClr>
                </a:solidFill>
              </a:rPr>
              <a:t>Hardware</a:t>
            </a:r>
            <a:r>
              <a:rPr lang="en-US" sz="1400" dirty="0">
                <a:solidFill>
                  <a:schemeClr val="accent2">
                    <a:lumMod val="60000"/>
                    <a:lumOff val="40000"/>
                  </a:schemeClr>
                </a:solidFill>
              </a:rPr>
              <a:t> has the lowest</a:t>
            </a:r>
            <a:r>
              <a:rPr lang="en-US" sz="1400" dirty="0" smtClean="0">
                <a:solidFill>
                  <a:schemeClr val="accent2">
                    <a:lumMod val="60000"/>
                    <a:lumOff val="40000"/>
                  </a:schemeClr>
                </a:solidFill>
              </a:rPr>
              <a:t>.</a:t>
            </a:r>
          </a:p>
          <a:p>
            <a:pPr marL="285750" indent="-285750">
              <a:buFont typeface="Wingdings" panose="05000000000000000000" pitchFamily="2" charset="2"/>
              <a:buChar char="ü"/>
            </a:pPr>
            <a:r>
              <a:rPr lang="en-US" sz="1400" b="1" dirty="0">
                <a:solidFill>
                  <a:schemeClr val="accent2">
                    <a:lumMod val="60000"/>
                    <a:lumOff val="40000"/>
                  </a:schemeClr>
                </a:solidFill>
              </a:rPr>
              <a:t>6–10 years since last promotion:</a:t>
            </a:r>
            <a:r>
              <a:rPr lang="en-US" sz="1400" dirty="0">
                <a:solidFill>
                  <a:schemeClr val="accent2">
                    <a:lumMod val="60000"/>
                    <a:lumOff val="40000"/>
                  </a:schemeClr>
                </a:solidFill>
              </a:rPr>
              <a:t> </a:t>
            </a:r>
            <a:r>
              <a:rPr lang="en-US" sz="1400" b="1" dirty="0">
                <a:solidFill>
                  <a:schemeClr val="accent2">
                    <a:lumMod val="60000"/>
                    <a:lumOff val="40000"/>
                  </a:schemeClr>
                </a:solidFill>
              </a:rPr>
              <a:t>Human Resources</a:t>
            </a:r>
            <a:r>
              <a:rPr lang="en-US" sz="1400" dirty="0">
                <a:solidFill>
                  <a:schemeClr val="accent2">
                    <a:lumMod val="60000"/>
                    <a:lumOff val="40000"/>
                  </a:schemeClr>
                </a:solidFill>
              </a:rPr>
              <a:t> shows the highest attrition, and </a:t>
            </a:r>
            <a:r>
              <a:rPr lang="en-US" sz="1400" b="1" dirty="0">
                <a:solidFill>
                  <a:schemeClr val="accent2">
                    <a:lumMod val="60000"/>
                    <a:lumOff val="40000"/>
                  </a:schemeClr>
                </a:solidFill>
              </a:rPr>
              <a:t>Software</a:t>
            </a:r>
            <a:r>
              <a:rPr lang="en-US" sz="1400" dirty="0">
                <a:solidFill>
                  <a:schemeClr val="accent2">
                    <a:lumMod val="60000"/>
                    <a:lumOff val="40000"/>
                  </a:schemeClr>
                </a:solidFill>
              </a:rPr>
              <a:t> has the lowest</a:t>
            </a:r>
            <a:r>
              <a:rPr lang="en-US" sz="1400" dirty="0" smtClean="0">
                <a:solidFill>
                  <a:schemeClr val="accent2">
                    <a:lumMod val="60000"/>
                    <a:lumOff val="40000"/>
                  </a:schemeClr>
                </a:solidFill>
              </a:rPr>
              <a:t>.</a:t>
            </a:r>
          </a:p>
          <a:p>
            <a:pPr marL="285750" indent="-285750">
              <a:buFont typeface="Wingdings" panose="05000000000000000000" pitchFamily="2" charset="2"/>
              <a:buChar char="ü"/>
            </a:pPr>
            <a:r>
              <a:rPr lang="en-US" sz="1400" b="1" dirty="0">
                <a:solidFill>
                  <a:schemeClr val="accent2">
                    <a:lumMod val="60000"/>
                    <a:lumOff val="40000"/>
                  </a:schemeClr>
                </a:solidFill>
              </a:rPr>
              <a:t>11–15 years since last promotion:</a:t>
            </a:r>
            <a:r>
              <a:rPr lang="en-US" sz="1400" dirty="0">
                <a:solidFill>
                  <a:schemeClr val="accent2">
                    <a:lumMod val="60000"/>
                    <a:lumOff val="40000"/>
                  </a:schemeClr>
                </a:solidFill>
              </a:rPr>
              <a:t> </a:t>
            </a:r>
            <a:r>
              <a:rPr lang="en-US" sz="1400" b="1" dirty="0">
                <a:solidFill>
                  <a:schemeClr val="accent2">
                    <a:lumMod val="60000"/>
                    <a:lumOff val="40000"/>
                  </a:schemeClr>
                </a:solidFill>
              </a:rPr>
              <a:t>Support</a:t>
            </a:r>
            <a:r>
              <a:rPr lang="en-US" sz="1400" dirty="0">
                <a:solidFill>
                  <a:schemeClr val="accent2">
                    <a:lumMod val="60000"/>
                    <a:lumOff val="40000"/>
                  </a:schemeClr>
                </a:solidFill>
              </a:rPr>
              <a:t> has the highest attrition, while </a:t>
            </a:r>
            <a:r>
              <a:rPr lang="en-US" sz="1400" b="1" dirty="0">
                <a:solidFill>
                  <a:schemeClr val="accent2">
                    <a:lumMod val="60000"/>
                    <a:lumOff val="40000"/>
                  </a:schemeClr>
                </a:solidFill>
              </a:rPr>
              <a:t>Sales</a:t>
            </a:r>
            <a:r>
              <a:rPr lang="en-US" sz="1400" dirty="0">
                <a:solidFill>
                  <a:schemeClr val="accent2">
                    <a:lumMod val="60000"/>
                    <a:lumOff val="40000"/>
                  </a:schemeClr>
                </a:solidFill>
              </a:rPr>
              <a:t> has the lowest</a:t>
            </a:r>
            <a:r>
              <a:rPr lang="en-US" sz="1400" dirty="0" smtClean="0">
                <a:solidFill>
                  <a:schemeClr val="accent2">
                    <a:lumMod val="60000"/>
                    <a:lumOff val="40000"/>
                  </a:schemeClr>
                </a:solidFill>
              </a:rPr>
              <a:t>.</a:t>
            </a:r>
          </a:p>
          <a:p>
            <a:pPr marL="285750" indent="-285750">
              <a:buFont typeface="Wingdings" panose="05000000000000000000" pitchFamily="2" charset="2"/>
              <a:buChar char="ü"/>
            </a:pPr>
            <a:r>
              <a:rPr lang="en-US" sz="1400" b="1" dirty="0">
                <a:solidFill>
                  <a:schemeClr val="accent2">
                    <a:lumMod val="60000"/>
                    <a:lumOff val="40000"/>
                  </a:schemeClr>
                </a:solidFill>
              </a:rPr>
              <a:t>16–20 years since last promotion:</a:t>
            </a:r>
            <a:r>
              <a:rPr lang="en-US" sz="1400" dirty="0">
                <a:solidFill>
                  <a:schemeClr val="accent2">
                    <a:lumMod val="60000"/>
                    <a:lumOff val="40000"/>
                  </a:schemeClr>
                </a:solidFill>
              </a:rPr>
              <a:t> </a:t>
            </a:r>
            <a:r>
              <a:rPr lang="en-US" sz="1400" b="1" dirty="0">
                <a:solidFill>
                  <a:schemeClr val="accent2">
                    <a:lumMod val="60000"/>
                    <a:lumOff val="40000"/>
                  </a:schemeClr>
                </a:solidFill>
              </a:rPr>
              <a:t>Software</a:t>
            </a:r>
            <a:r>
              <a:rPr lang="en-US" sz="1400" dirty="0">
                <a:solidFill>
                  <a:schemeClr val="accent2">
                    <a:lumMod val="60000"/>
                    <a:lumOff val="40000"/>
                  </a:schemeClr>
                </a:solidFill>
              </a:rPr>
              <a:t> shows the highest attrition, and </a:t>
            </a:r>
            <a:r>
              <a:rPr lang="en-US" sz="1400" b="1" dirty="0">
                <a:solidFill>
                  <a:schemeClr val="accent2">
                    <a:lumMod val="60000"/>
                    <a:lumOff val="40000"/>
                  </a:schemeClr>
                </a:solidFill>
              </a:rPr>
              <a:t>Hardware</a:t>
            </a:r>
            <a:r>
              <a:rPr lang="en-US" sz="1400" dirty="0">
                <a:solidFill>
                  <a:schemeClr val="accent2">
                    <a:lumMod val="60000"/>
                    <a:lumOff val="40000"/>
                  </a:schemeClr>
                </a:solidFill>
              </a:rPr>
              <a:t> has the lowest</a:t>
            </a:r>
            <a:r>
              <a:rPr lang="en-US" sz="1400" dirty="0" smtClean="0">
                <a:solidFill>
                  <a:schemeClr val="accent2">
                    <a:lumMod val="60000"/>
                    <a:lumOff val="40000"/>
                  </a:schemeClr>
                </a:solidFill>
              </a:rPr>
              <a:t>.</a:t>
            </a:r>
          </a:p>
          <a:p>
            <a:pPr marL="285750" indent="-285750">
              <a:buFont typeface="Wingdings" panose="05000000000000000000" pitchFamily="2" charset="2"/>
              <a:buChar char="ü"/>
            </a:pPr>
            <a:r>
              <a:rPr lang="en-US" sz="1400" b="1" dirty="0">
                <a:solidFill>
                  <a:schemeClr val="accent2">
                    <a:lumMod val="60000"/>
                    <a:lumOff val="40000"/>
                  </a:schemeClr>
                </a:solidFill>
              </a:rPr>
              <a:t>21–25 years since last promotion:</a:t>
            </a:r>
            <a:r>
              <a:rPr lang="en-US" sz="1400" dirty="0">
                <a:solidFill>
                  <a:schemeClr val="accent2">
                    <a:lumMod val="60000"/>
                    <a:lumOff val="40000"/>
                  </a:schemeClr>
                </a:solidFill>
              </a:rPr>
              <a:t> </a:t>
            </a:r>
            <a:r>
              <a:rPr lang="en-US" sz="1400" b="1" dirty="0">
                <a:solidFill>
                  <a:schemeClr val="accent2">
                    <a:lumMod val="60000"/>
                    <a:lumOff val="40000"/>
                  </a:schemeClr>
                </a:solidFill>
              </a:rPr>
              <a:t>Software</a:t>
            </a:r>
            <a:r>
              <a:rPr lang="en-US" sz="1400" dirty="0">
                <a:solidFill>
                  <a:schemeClr val="accent2">
                    <a:lumMod val="60000"/>
                    <a:lumOff val="40000"/>
                  </a:schemeClr>
                </a:solidFill>
              </a:rPr>
              <a:t> has the highest attrition, while </a:t>
            </a:r>
            <a:r>
              <a:rPr lang="en-US" sz="1400" b="1" dirty="0">
                <a:solidFill>
                  <a:schemeClr val="accent2">
                    <a:lumMod val="60000"/>
                    <a:lumOff val="40000"/>
                  </a:schemeClr>
                </a:solidFill>
              </a:rPr>
              <a:t>Support</a:t>
            </a:r>
            <a:r>
              <a:rPr lang="en-US" sz="1400" dirty="0">
                <a:solidFill>
                  <a:schemeClr val="accent2">
                    <a:lumMod val="60000"/>
                    <a:lumOff val="40000"/>
                  </a:schemeClr>
                </a:solidFill>
              </a:rPr>
              <a:t> has the lowest</a:t>
            </a:r>
            <a:r>
              <a:rPr lang="en-US" sz="1400" dirty="0" smtClean="0">
                <a:solidFill>
                  <a:schemeClr val="accent2">
                    <a:lumMod val="60000"/>
                    <a:lumOff val="40000"/>
                  </a:schemeClr>
                </a:solidFill>
              </a:rPr>
              <a:t>.</a:t>
            </a:r>
          </a:p>
          <a:p>
            <a:pPr marL="285750" indent="-285750">
              <a:buFont typeface="Wingdings" panose="05000000000000000000" pitchFamily="2" charset="2"/>
              <a:buChar char="ü"/>
            </a:pPr>
            <a:r>
              <a:rPr lang="en-US" sz="1400" b="1" dirty="0">
                <a:solidFill>
                  <a:schemeClr val="accent2">
                    <a:lumMod val="60000"/>
                    <a:lumOff val="40000"/>
                  </a:schemeClr>
                </a:solidFill>
              </a:rPr>
              <a:t>26–30 years since last promotion:</a:t>
            </a:r>
            <a:r>
              <a:rPr lang="en-US" sz="1400" dirty="0">
                <a:solidFill>
                  <a:schemeClr val="accent2">
                    <a:lumMod val="60000"/>
                    <a:lumOff val="40000"/>
                  </a:schemeClr>
                </a:solidFill>
              </a:rPr>
              <a:t> </a:t>
            </a:r>
            <a:r>
              <a:rPr lang="en-US" sz="1400" b="1" dirty="0">
                <a:solidFill>
                  <a:schemeClr val="accent2">
                    <a:lumMod val="60000"/>
                    <a:lumOff val="40000"/>
                  </a:schemeClr>
                </a:solidFill>
              </a:rPr>
              <a:t>Support</a:t>
            </a:r>
            <a:r>
              <a:rPr lang="en-US" sz="1400" dirty="0">
                <a:solidFill>
                  <a:schemeClr val="accent2">
                    <a:lumMod val="60000"/>
                    <a:lumOff val="40000"/>
                  </a:schemeClr>
                </a:solidFill>
              </a:rPr>
              <a:t> shows the highest attrition, and </a:t>
            </a:r>
            <a:r>
              <a:rPr lang="en-US" sz="1400" b="1" dirty="0">
                <a:solidFill>
                  <a:schemeClr val="accent2">
                    <a:lumMod val="60000"/>
                    <a:lumOff val="40000"/>
                  </a:schemeClr>
                </a:solidFill>
              </a:rPr>
              <a:t>Human Resources</a:t>
            </a:r>
            <a:r>
              <a:rPr lang="en-US" sz="1400" dirty="0">
                <a:solidFill>
                  <a:schemeClr val="accent2">
                    <a:lumMod val="60000"/>
                    <a:lumOff val="40000"/>
                  </a:schemeClr>
                </a:solidFill>
              </a:rPr>
              <a:t> has the lowest</a:t>
            </a:r>
            <a:r>
              <a:rPr lang="en-US" sz="1400" dirty="0" smtClean="0">
                <a:solidFill>
                  <a:schemeClr val="accent2">
                    <a:lumMod val="60000"/>
                    <a:lumOff val="40000"/>
                  </a:schemeClr>
                </a:solidFill>
              </a:rPr>
              <a:t>.</a:t>
            </a:r>
          </a:p>
          <a:p>
            <a:pPr marL="285750" indent="-285750">
              <a:buFont typeface="Wingdings" panose="05000000000000000000" pitchFamily="2" charset="2"/>
              <a:buChar char="ü"/>
            </a:pPr>
            <a:r>
              <a:rPr lang="en-US" sz="1400" b="1" dirty="0">
                <a:solidFill>
                  <a:schemeClr val="accent2">
                    <a:lumMod val="60000"/>
                    <a:lumOff val="40000"/>
                  </a:schemeClr>
                </a:solidFill>
              </a:rPr>
              <a:t>Above 30 years since last promotion:</a:t>
            </a:r>
            <a:r>
              <a:rPr lang="en-US" sz="1400" dirty="0">
                <a:solidFill>
                  <a:schemeClr val="accent2">
                    <a:lumMod val="60000"/>
                    <a:lumOff val="40000"/>
                  </a:schemeClr>
                </a:solidFill>
              </a:rPr>
              <a:t> </a:t>
            </a:r>
            <a:r>
              <a:rPr lang="en-US" sz="1400" b="1" dirty="0">
                <a:solidFill>
                  <a:schemeClr val="accent2">
                    <a:lumMod val="60000"/>
                    <a:lumOff val="40000"/>
                  </a:schemeClr>
                </a:solidFill>
              </a:rPr>
              <a:t>Software</a:t>
            </a:r>
            <a:r>
              <a:rPr lang="en-US" sz="1400" dirty="0">
                <a:solidFill>
                  <a:schemeClr val="accent2">
                    <a:lumMod val="60000"/>
                    <a:lumOff val="40000"/>
                  </a:schemeClr>
                </a:solidFill>
              </a:rPr>
              <a:t> has the highest attrition, while </a:t>
            </a:r>
            <a:r>
              <a:rPr lang="en-US" sz="1400" b="1" dirty="0">
                <a:solidFill>
                  <a:schemeClr val="accent2">
                    <a:lumMod val="60000"/>
                    <a:lumOff val="40000"/>
                  </a:schemeClr>
                </a:solidFill>
              </a:rPr>
              <a:t>Human Resources</a:t>
            </a:r>
            <a:r>
              <a:rPr lang="en-US" sz="1400" dirty="0">
                <a:solidFill>
                  <a:schemeClr val="accent2">
                    <a:lumMod val="60000"/>
                    <a:lumOff val="40000"/>
                  </a:schemeClr>
                </a:solidFill>
              </a:rPr>
              <a:t> has the lowest.</a:t>
            </a:r>
          </a:p>
        </p:txBody>
      </p:sp>
    </p:spTree>
    <p:extLst>
      <p:ext uri="{BB962C8B-B14F-4D97-AF65-F5344CB8AC3E}">
        <p14:creationId xmlns:p14="http://schemas.microsoft.com/office/powerpoint/2010/main" val="908052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3"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1+#ppt_w/2"/>
                                          </p:val>
                                        </p:tav>
                                        <p:tav tm="100000">
                                          <p:val>
                                            <p:strVal val="#ppt_x"/>
                                          </p:val>
                                        </p:tav>
                                      </p:tavLst>
                                    </p:anim>
                                    <p:anim calcmode="lin" valueType="num">
                                      <p:cBhvr additive="base">
                                        <p:cTn id="20"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1911"/>
          <a:stretch/>
        </p:blipFill>
        <p:spPr>
          <a:xfrm>
            <a:off x="749642" y="617837"/>
            <a:ext cx="10733903" cy="5654295"/>
          </a:xfrm>
          <a:prstGeom prst="rect">
            <a:avLst/>
          </a:prstGeom>
        </p:spPr>
      </p:pic>
    </p:spTree>
    <p:extLst>
      <p:ext uri="{BB962C8B-B14F-4D97-AF65-F5344CB8AC3E}">
        <p14:creationId xmlns:p14="http://schemas.microsoft.com/office/powerpoint/2010/main" val="81638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57331" y="498528"/>
            <a:ext cx="11315211" cy="5877558"/>
          </a:xfrm>
          <a:prstGeom prst="rect">
            <a:avLst/>
          </a:prstGeom>
        </p:spPr>
      </p:pic>
    </p:spTree>
    <p:extLst>
      <p:ext uri="{BB962C8B-B14F-4D97-AF65-F5344CB8AC3E}">
        <p14:creationId xmlns:p14="http://schemas.microsoft.com/office/powerpoint/2010/main" val="2680638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8448" y="415748"/>
            <a:ext cx="11656808" cy="6094676"/>
          </a:xfrm>
          <a:prstGeom prst="rect">
            <a:avLst/>
          </a:prstGeom>
        </p:spPr>
      </p:pic>
    </p:spTree>
    <p:extLst>
      <p:ext uri="{BB962C8B-B14F-4D97-AF65-F5344CB8AC3E}">
        <p14:creationId xmlns:p14="http://schemas.microsoft.com/office/powerpoint/2010/main" val="3835897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888" y="637381"/>
            <a:ext cx="10839389" cy="821954"/>
          </a:xfrm>
          <a:gradFill flip="none" rotWithShape="1">
            <a:gsLst>
              <a:gs pos="0">
                <a:srgbClr val="33CCFF">
                  <a:shade val="30000"/>
                  <a:satMod val="115000"/>
                </a:srgbClr>
              </a:gs>
              <a:gs pos="50000">
                <a:srgbClr val="33CCFF">
                  <a:shade val="67500"/>
                  <a:satMod val="115000"/>
                </a:srgbClr>
              </a:gs>
              <a:gs pos="100000">
                <a:srgbClr val="33CCFF">
                  <a:shade val="100000"/>
                  <a:satMod val="115000"/>
                </a:srgbClr>
              </a:gs>
            </a:gsLst>
            <a:lin ang="5400000" scaled="1"/>
            <a:tileRec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a:noAutofit/>
          </a:bodyPr>
          <a:lstStyle/>
          <a:p>
            <a:r>
              <a:rPr lang="en-US" sz="6600" dirty="0" smtClean="0"/>
              <a:t>Conclusion</a:t>
            </a:r>
            <a:endParaRPr lang="en-US" sz="6600" dirty="0"/>
          </a:p>
        </p:txBody>
      </p:sp>
      <p:sp>
        <p:nvSpPr>
          <p:cNvPr id="9" name="Rectangle 8"/>
          <p:cNvSpPr/>
          <p:nvPr/>
        </p:nvSpPr>
        <p:spPr>
          <a:xfrm>
            <a:off x="3759274" y="1539234"/>
            <a:ext cx="7755003" cy="4621867"/>
          </a:xfrm>
          <a:prstGeom prst="rect">
            <a:avLst/>
          </a:prstGeom>
          <a:gradFill flip="none" rotWithShape="1">
            <a:gsLst>
              <a:gs pos="0">
                <a:srgbClr val="33CCFF">
                  <a:tint val="66000"/>
                  <a:satMod val="160000"/>
                </a:srgbClr>
              </a:gs>
              <a:gs pos="50000">
                <a:srgbClr val="33CCFF">
                  <a:tint val="44500"/>
                  <a:satMod val="160000"/>
                </a:srgbClr>
              </a:gs>
              <a:gs pos="100000">
                <a:srgbClr val="33CCFF">
                  <a:tint val="23500"/>
                  <a:satMod val="160000"/>
                </a:srgb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The HR Analytics reveals a critically high attrition rate of 50.21%, indicating serious employee retention challenges. Attrition appears consistent across departments, suggesting systemic organizational issues rather than department-specific problems. Work-life balance varies by job role, with operational roles showing slightly lower satisfaction. Salary differences do not strongly explain attrition, indicating that compensation alone is not the primary cause. A key factor appears to be delayed promotions and limited career growth opportunities. With only 24,895 active employees out of 50,000, turnover is substantial. Overall, the data highlights the need for improved career progression, engagement strategies, and organizational culture enhancements.</a:t>
            </a:r>
          </a:p>
        </p:txBody>
      </p:sp>
      <p:pic>
        <p:nvPicPr>
          <p:cNvPr id="10" name="Picture 9"/>
          <p:cNvPicPr>
            <a:picLocks noChangeAspect="1"/>
          </p:cNvPicPr>
          <p:nvPr/>
        </p:nvPicPr>
        <p:blipFill rotWithShape="1">
          <a:blip r:embed="rId2"/>
          <a:srcRect l="5751"/>
          <a:stretch/>
        </p:blipFill>
        <p:spPr>
          <a:xfrm>
            <a:off x="852256" y="1539235"/>
            <a:ext cx="2907018" cy="4621867"/>
          </a:xfrm>
          <a:prstGeom prst="rect">
            <a:avLst/>
          </a:prstGeom>
        </p:spPr>
      </p:pic>
    </p:spTree>
    <p:extLst>
      <p:ext uri="{BB962C8B-B14F-4D97-AF65-F5344CB8AC3E}">
        <p14:creationId xmlns:p14="http://schemas.microsoft.com/office/powerpoint/2010/main" val="401527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200150" y="923925"/>
            <a:ext cx="9829800" cy="1704975"/>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6600" dirty="0" smtClean="0"/>
              <a:t>Thank You for you Time</a:t>
            </a:r>
            <a:endParaRPr lang="en-US" sz="6600" dirty="0"/>
          </a:p>
        </p:txBody>
      </p:sp>
      <p:pic>
        <p:nvPicPr>
          <p:cNvPr id="3" name="Picture 2"/>
          <p:cNvPicPr>
            <a:picLocks noChangeAspect="1"/>
          </p:cNvPicPr>
          <p:nvPr/>
        </p:nvPicPr>
        <p:blipFill rotWithShape="1">
          <a:blip r:embed="rId2"/>
          <a:srcRect t="30164"/>
          <a:stretch/>
        </p:blipFill>
        <p:spPr>
          <a:xfrm>
            <a:off x="1381125" y="2628900"/>
            <a:ext cx="9467850" cy="36004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0452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206</TotalTime>
  <Words>723</Words>
  <Application>Microsoft Office PowerPoint</Application>
  <PresentationFormat>Widescreen</PresentationFormat>
  <Paragraphs>48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Garamond</vt:lpstr>
      <vt:lpstr>Wingdings</vt:lpstr>
      <vt:lpstr>Organic</vt:lpstr>
      <vt:lpstr>HR Analytics </vt:lpstr>
      <vt:lpstr>Team Member </vt:lpstr>
      <vt:lpstr>Introduction</vt:lpstr>
      <vt:lpstr>Average Attrition Rate of All Department</vt:lpstr>
      <vt:lpstr>Average Hourly Rate of Male Research Scientist</vt:lpstr>
      <vt:lpstr>Attribute Rate V/S Monthly Income</vt:lpstr>
      <vt:lpstr>Average Working Year of All Department</vt:lpstr>
      <vt:lpstr>Work Life Balance Matrix</vt:lpstr>
      <vt:lpstr>Attribute Rate V/S Last Year Promotion</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Analytics</dc:title>
  <dc:creator>hp</dc:creator>
  <cp:lastModifiedBy>hp</cp:lastModifiedBy>
  <cp:revision>22</cp:revision>
  <dcterms:created xsi:type="dcterms:W3CDTF">2026-02-12T23:50:16Z</dcterms:created>
  <dcterms:modified xsi:type="dcterms:W3CDTF">2026-02-14T18:48:48Z</dcterms:modified>
</cp:coreProperties>
</file>